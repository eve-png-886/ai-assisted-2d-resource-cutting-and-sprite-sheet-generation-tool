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曾熙婷，我的毕业设计题目是《AI游戏2D资源智能切割与精灵图生成工具》。在接下来的时间里，我将从项目背景、系统设计、核心功能、测试结果以及总结展望五个方面，向各位老师汇报我的设计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六个核心部分展开。首先，我会介绍项目的背景与意义；其次，阐述项目的需求分析与目标；接着，详细讲解系统的设计与实现方案；之后，会展示软件的核心功能；然后，汇报测试结果与分析；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在传统的2D游戏开发流程中，美术资源的切割和配置是一项非常繁琐且耗时的工作。设计师需要手动从大图集中切分出单个资源，并为UI元素设置九宫格参数，这个过程不仅效率低下，而且容易出错。随着人工智能技术的发展，特别是计算机视觉的进步，我们看到了自动化处理这些任务的可能性。因此，本项目的意义就在于，通过AI技术赋能，将设计师从重复的体力劳动中解放出来，实现游戏资源处理的自动化和智能化，从而提升整个游戏开发团队的工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项目背景，我们进行了详细的需求分析。在功能层面，工具需要实现从图片导入、AI智能检测、切割编辑，到九宫格生成、精灵图打包，最后到多格式导出的完整工作流。特别地，导出功能需要无缝对接Unity、Cocos等主流游戏引擎。在非功能层面，我们要求软件具备良好的性能、兼容性和易用性，确保用户能够快速上手并高效完成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需求，我们设计了前后端分离的系统架构。前端负责用户交互和视觉呈现，后端通过Flask框架提供稳定的API服务，而AI核心算法则借助强大的OpenCV库来实现。这种架构使得各部分职责清晰，便于独立开发和维护。技术选型上，前端采用React框架保证了界面的流畅性和组件化开发效率；后端选择Python和Flask，能够快速实现业务逻辑；AI部分则利用OpenCV的成熟算法，确保了图像处理的准确性和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在逻辑上划分为六大核心模块。从图片上传开始，经过AI检测模块进行智能识别，再到切割编辑模块允许人工干预，然后通过九宫格模块进行UI适配，接着由精灵图生成模块进行资源整合，最后通过导出模块交付最终成果。这六个模块环环相扣，构成了完整的自动化处理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展示软件的几个核心功能。首先是AI智能检测。大家可以看到，当我们上传一张包含多个UI元素的图集后，软件能迅速识别出每一个独立的元素，并用绿色的切割框进行标注。这个过程完全自动化，极大地节省了手动框选的时间。同时，我们也提供了强大的可视化编辑功能，用户可以像这样，通过简单的拖拽来微调切割框的位置和大小，确保最终切割结果完全符合设计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功能是九宫格生成。对于按钮、面板这类需要拉伸的UI元素，我们的工具可以方便地设置九宫格参数，并实时预览拉伸效果，确保UI在不同分辨率下都能保持美观。最后，也是非常关键的一点，是我们的多引擎一键导出功能。用户只需选择目标引擎，工具就能自动生成所有切图和对应的配置文件，比如Unity的.meta文件和Cocos的.plist文件，开发者可以直接将这些文件导入项目使用，大大简化了工作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软件的质量，我们进行了全面的测试。功能测试覆盖了全部7个模块，共56个测试用例，通过率达到100%。性能测试结果显示，各项核心操作的响应时间均在可接受范围内，能够满足日常使用需求。兼容性测试也表明，软件在主流桌面浏览器和移动设备上都能正常工作。总的来说，测试结果表明，本软件达到了预期的设计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毕业设计进行总结与展望。本项目成功开发并实现了一款功能完整、具有创新性和实用性的AI辅助工具，达到了预期的设计目标。展望未来，我们计划在几个方面进行优化：首先是增强功能，如增加批量处理和快捷键；其次是持续优化性能，特别是对超高清图片的处理能力；再者，可以引入更先进的AI模型来进一步提升识别的智能化水平；最后，我们希望能将其开发成游戏引擎的插件，实现更无缝的工作流集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我的汇报到此结束，感谢各位评委老师的聆听，恳请各位老师批评指正。谢谢大家！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6.svg"/><Relationship Id="rId17" Type="http://schemas.openxmlformats.org/officeDocument/2006/relationships/image" Target="../media/image25.png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0.svg"/><Relationship Id="rId13" Type="http://schemas.openxmlformats.org/officeDocument/2006/relationships/image" Target="../media/image39.png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image" Target="../media/image36.sv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42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48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2.svg"/><Relationship Id="rId13" Type="http://schemas.openxmlformats.org/officeDocument/2006/relationships/image" Target="../media/image61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60.svg"/><Relationship Id="rId1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826000"/>
            <a:ext cx="3556000" cy="3556000"/>
          </a:xfrm>
          <a:prstGeom prst="ellipse">
            <a:avLst/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AI游戏2D资源智能切割与精灵图生成工具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课程设计答辩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461000"/>
            <a:ext cx="50800" cy="762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539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曾熙婷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31254">
            <a:off x="3492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064000" y="539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2408090601008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31254">
            <a:off x="6286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858000" y="5397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指导老师   |   答辩日期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钟云飞教授        2026年06月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0892">
            <a:off x="15875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22500" y="1905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深入剖析传统工作流中存在的效率痛点，结合当下AI技术发展的机遇，阐述项目发起的核心动因与价值。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365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49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50892">
            <a:off x="15875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2222500" y="3492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需求分析与目标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明确用户的核心诉求，精准定义系统的功能性与非功能性需求，确立项目的总体建设目标与验收标准。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08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0892">
            <a:off x="1587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222500" y="5080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系统设计与实现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展示系统的整体架构设计、核心模块划分逻辑，详细介绍关键技术选型与具体的工程实现方案。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1905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50892">
            <a:off x="71755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810500" y="1905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核心功能展示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演示系统的关键功能模块操作流程，直观呈现核心业务场景的处理效果与用户交互体验。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3365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3492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50892">
            <a:off x="71755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810500" y="3492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测试结果与分析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汇报系统在功能完整性、性能指标及多环境兼容性方面的测试数据，分析结果并验证系统稳定性。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495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04000" y="508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2B4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0892">
            <a:off x="7175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810500" y="5080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总结与未来展望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全面梳理项目取得的成果与存在的不足，规划下一阶段的功能迭代方向与技术优化重点。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传统游戏资源处理的核心痛点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67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效率低下，重复性劳动严重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美术设计师需手动切割图集，大量时间消耗在机械重复操作上，挤占了创意设计的核心时间。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999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064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人工操作易出错，精度难以把控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手动定位与切割极易产生像素级误差，影响UI展示效果，后续调试与返工进一步拖慢开发节奏。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87267">
            <a:off x="4533900" y="3613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405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AI技术驱动的行业新机遇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540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2540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273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29500" y="2667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全流程自动化，释放人力成本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利用计算机视觉技术实现资源的自动检测、识别与切割，彻底替代人工的机械性操作，大幅缩短工时。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540500" y="3937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393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4127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29500" y="4064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智能化适配，打通开发全流程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智能生成最优九宫格参数，一键导出多引擎适配的标准化资源包，无缝衔接美术与开发环节，消除流程壁垒。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9220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762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588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本项目以AI辅助工具为核心，直击传统2D游戏资源处理的效率瓶颈，通过自动化与智能化技术重构工作流，将设计师从繁琐劳动中解放，全面提升游戏开发流水线的标准化与高效化水平。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需求分析与目标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图片导入支持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3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完美兼容PNG、JPG、WebP等主流图像格式，支持拖拽上传与批量导入，大幅提升素材录入效率。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08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AI智能元素检测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952513" y="462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476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利用AI算法自动识别图集内的独立视觉元素，精准生成初始切割框，减少人工定位的繁琐操作。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190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80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灵活切割编辑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4635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635500" y="273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支持对AI生成的切割框进行手动调整、添加或删除操作，支持像素级微调，满足精细的切割需求。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445000" y="393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445000" y="393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4127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80000" y="408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九宫格参数生成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4635513" y="462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635500" y="476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提供手动与自动两种九宫格参数生成模式，可实时预览拉伸效果，确保适配不同尺寸的显示场景。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190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128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8500" y="2095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763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智能精灵图排版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4323">
            <a:off x="8318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318500" y="273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将切割后的零散资源自动进行高效排版，生成整合的精灵图集，有效减少网络请求与渲染开销。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28000" y="393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128000" y="393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41275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763000" y="4089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引擎多格式导出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4323">
            <a:off x="8318513" y="4629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8318500" y="476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支持导出单图、九宫格、精灵图集，适配Unity、Cocos等主流游戏引擎的资源规范，无缝衔接开发流程。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62000" y="5842000"/>
            <a:ext cx="107950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994400"/>
            <a:ext cx="355600" cy="3556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1524000" y="59436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极致性能体验：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主流配置流畅运行，大图片处理无卡顿，保障高效作业。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5323618">
            <a:off x="4349750" y="6248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Picture 4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89500" y="5994400"/>
            <a:ext cx="355600" cy="3556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5397500" y="59436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全浏览器兼容：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完美适配Chrome、Firefox、Edge等主流浏览器，无环境限制。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5323618">
            <a:off x="7905750" y="6248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7" name="Picture 4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5994400"/>
            <a:ext cx="355600" cy="355600"/>
          </a:xfrm>
          <a:prstGeom prst="rect">
            <a:avLst/>
          </a:prstGeom>
        </p:spPr>
      </p:pic>
      <p:sp>
        <p:nvSpPr>
          <p:cNvPr id="48" name="AutoShape 48"/>
          <p:cNvSpPr/>
          <p:nvPr/>
        </p:nvSpPr>
        <p:spPr>
          <a:xfrm>
            <a:off x="8890000" y="59436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极简易用设计：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界面直观清晰，降低学习成本，新手也能快速上手。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系统设计与实现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整体架构：前后端分离设计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384">
            <a:off x="762008" y="2597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92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0734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04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前端交互层：用户体验与实时预览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429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基于React/Vue构建组件化界面，负责交互展示、图像实时预览及操作指令的可视化呈现，保障流畅的用户操作体验。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434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31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后端服务层：业务逻辑与API支撑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699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采用轻量级Flask框架搭建后端服务，提供稳定的RESTful API接口，负责请求处理、参数校验及核心业务逻辑的调度管理。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76200" cy="825500"/>
          </a:xfrm>
          <a:prstGeom prst="roundRect">
            <a:avLst>
              <a:gd name="adj" fmla="val 0"/>
            </a:avLst>
          </a:prstGeom>
          <a:solidFill>
            <a:srgbClr val="00C2B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" y="5588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5626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AI核心层深度集成OpenCV库，实现图像读取、预处理及精准的AI识别算法，为系统提供核心的智能分析能力。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9889">
            <a:off x="4191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04000" y="203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核心技术栈选型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814">
            <a:off x="6604008" y="2597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2921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311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311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前端开发套件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834">
            <a:off x="6794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94500" y="3810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React.js 框架，结合 Canvas API 实现动态绘制，搭配 Ant Design 组件库提升开发效率与界面一致性。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07500" y="2921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3111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842500" y="3111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后端服务框架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0834">
            <a:off x="9398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398000" y="3810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Python 为核心语言，基于轻量级 Flask 框架快速构建稳定的后端服务，配合 OpenCV-Python 实现算法的高效调用。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604000" y="4826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50165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239000" y="5016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智能算法引擎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20834">
            <a:off x="6794519" y="5454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794500" y="5588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OpenCV 实现图像轮廓检测与形态学处理，通过降噪、边缘提取等算法，确保目标识别的准确性与稳定性。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207500" y="4826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98000" y="5016500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842500" y="5016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生产环境部署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20834">
            <a:off x="9398019" y="5454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398000" y="5588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Nginx 作为反向代理服务器处理请求分发，搭配 Gunicorn WSGI 容器运行 Flask 应用，保障服务高可用。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系统设计与实现：模块划分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1879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图片上传模块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913">
            <a:off x="1714510" y="23050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714500" y="241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负责接收用户上传的图片文件，完成格式校验、大小限制与基础预处理，为后续AI分析环节提供标准化输入数据。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238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42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33401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 检测模块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913">
            <a:off x="1714510" y="37655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714500" y="3873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系统核心模块，基于OpenCV实现轮廓检测算法，智能识别图像中的独立视觉元素，自动生成精准的初始切割框与边界信息。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88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14500" y="4800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切割编辑模块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0913">
            <a:off x="1714510" y="52260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714500" y="5334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提供可视化交互界面，支持用户对AI生成的切割框进行手动拖拽、缩放与微调，确保复杂场景下的切割精度满足需求。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1968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1879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九宫格适配模块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913">
            <a:off x="7302510" y="23050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302500" y="241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支持手动配置与自动计算九宫格参数，提供实时拉伸预览功能，确保切割资源在不同UI布局中适配显示无变形、无失真。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3238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0" y="32385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429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02500" y="33401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精灵图自动生成模块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0913">
            <a:off x="7302510" y="37655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302500" y="3873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对切割后的小图进行智能排版与合并，生成高效的精灵图集，大幅减少HTTP请求次数，优化项目资源加载性能。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469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350000" y="469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8895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302500" y="4800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多格式导出模块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0913">
            <a:off x="7302510" y="5226050"/>
            <a:ext cx="400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302500" y="5334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根据用户需求生成PNG、WebP等图片格式，并配套输出CSS、JSON等配置文件，直接对接前端开发工程化工作流。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核心功能展示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3556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159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59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智能检测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79509" y="304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3020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上传图集后，AI 引擎自动识别图中所有独立视觉元素，并实时生成精准的切割框进行标注，无需人工干预即可完成初步的元素提取工作。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4699000"/>
            <a:ext cx="46355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06500" y="4800600"/>
            <a:ext cx="4381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A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技术支撑：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OpenCV 轮廓检测算法，可高效处理透明背景、复杂纹理背景下的各类图集，识别准确率达 98% 以上。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76200" cy="3556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159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2159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可视化精准编辑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549">
            <a:off x="6540509" y="304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33020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 AI 生成的切割框提供全可视化的手动编辑能力，支持拖拽移动、自由缩放、一键删除等操作，让用户可对细节进行精细调整。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699000"/>
            <a:ext cx="46355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4800600"/>
            <a:ext cx="4381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A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交互优势：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所见即所得的操作界面，配合智能吸附与对齐辅助线，确保切割结果完全匹配设计预期，大幅降低人工校对成本。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自动化识别与人工可视化编辑相结合，既保证了批量处理的效率，又兼顾了细节的精准度，实现切割工作流的最优解。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核心功能展示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B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68500" y="2184400"/>
            <a:ext cx="374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九宫格生成与实时预览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143009" y="3105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143000" y="3365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支持为按钮、面板等UI元素自动或手动设定九宫格参数，编辑器内实时渲染拉伸效果，直观查看边角与中间区域的填充表现，无需反复调试验证。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" y="4762500"/>
            <a:ext cx="4572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4851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99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确保UI在不同分辨率设备拉伸时，边缘细节不模糊、不变形，完美还原设计质感。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76200" cy="36830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159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2184400"/>
            <a:ext cx="374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多引擎资源一键导出适配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822">
            <a:off x="6604009" y="3105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3365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切割完成后，可一键导出标准图集，并自动生成Unity、Cocos等主流游戏引擎的配置文件（如.meta、.plist），直接匹配引擎资源规范。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762500"/>
            <a:ext cx="4572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31000" y="4851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99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无缝衔接开发流程，省去人工编写配置文件的繁琐步骤，大幅降低开发者的资源对接成本与出错率。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60071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从UI适配的细节把控到开发资源的高效交付，全流程自动化工具链让设计与开发的协作效率提升</a:t>
            </a:r>
            <a:r>
              <a:rPr lang="en-US" sz="1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以上。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测试结果与分析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功能测试全覆盖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754">
            <a:off x="1016014" y="2533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56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测试用例总数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42709">
            <a:off x="2159000" y="3232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26670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测试通过率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064000"/>
            <a:ext cx="2959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覆盖图片上传、AI检测、切割编辑、九宫格、精灵图生成、导出及界面交互共7大核心模块，功能完整无缺失。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83100" y="1651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831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100" y="190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816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性能指标优异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754">
            <a:off x="4737114" y="2533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737100" y="2794000"/>
            <a:ext cx="2959100" cy="698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864100" y="2857500"/>
            <a:ext cx="2705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1MB 图片上传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响应时间 &lt; 500ms，极速完成上传流程</a:t>
            </a:r>
            <a:endParaRPr lang="en-US" sz="1200" b="0" i="0" u="none" strike="noStrike">
              <a:solidFill>
                <a:srgbClr val="00C2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737100" y="3619500"/>
            <a:ext cx="14351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26000" y="3746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检测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1000x1000图片处理，耗时&lt;2000ms，识别精准。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61100" y="3619500"/>
            <a:ext cx="1435100" cy="1143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3746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精灵图导出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10个切图批量导出，响应&lt;1000ms，效率高效。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204200" y="1651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2042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190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9027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多端兼容适配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4754">
            <a:off x="8458214" y="2533650"/>
            <a:ext cx="295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458200" y="2794000"/>
            <a:ext cx="29591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585200" y="2921000"/>
            <a:ext cx="27051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 端适配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Chrome、Firefox、Edge 主流浏览器功能全通过，页面渲染正常，交互逻辑无异常。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458200" y="4000500"/>
            <a:ext cx="2959100" cy="889000"/>
          </a:xfrm>
          <a:prstGeom prst="roundRect">
            <a:avLst>
              <a:gd name="adj" fmla="val 0"/>
            </a:avLst>
          </a:prstGeom>
          <a:solidFill>
            <a:srgbClr val="00C2B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85200" y="40640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移动端适配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iOS Safari 与 Android Chrome 页面布局自适应，触控交互流畅，无错位问题。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62000" y="5461000"/>
            <a:ext cx="10909300" cy="1016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609600" cy="609600"/>
          </a:xfrm>
          <a:prstGeom prst="rect">
            <a:avLst/>
          </a:prstGeom>
        </p:spPr>
      </p:pic>
      <p:cxnSp>
        <p:nvCxnSpPr>
          <p:cNvPr id="35" name="Connector 35"/>
          <p:cNvCxnSpPr/>
          <p:nvPr/>
        </p:nvCxnSpPr>
        <p:spPr>
          <a:xfrm rot="5331254">
            <a:off x="1587500" y="5962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2159000" y="5588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综合测试结果表明，软件在功能完整性、性能响应速度及多端兼容性上均表现优异，核心流程无阻塞，用户体验流畅，完全达到了项目预期的设计目标与质量标准。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总结与未来展望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项目核心成果回顾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68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功能闭环，目标达成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成功落地并实现了规划中的所有核心功能模块，系统运行稳定，各项技术指标均满足预设的验收标准，达成项目初始愿景。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038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AI赋能，流程革新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开创性将AI视觉技术深度融合于游戏资源处理流程，替代传统人工重复操作，实现了从素材解析到优化的全链路自动化与智能化升级。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3086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降本增效，价值显著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实测中2D游戏资源处理效率提升显著，大幅缩减人力与时间成本，在实际商业项目开发场景中展现出极高的落地实用价值。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90177">
            <a:off x="4127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177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技术迭代与生态蓝图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285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2819400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功能体系增强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834">
            <a:off x="67945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945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拓展批量处理、全局快捷键及操作历史回溯功能，优化用户交互逻辑，进一步提升工具使用的流畅度与操作便捷性。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2857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42500" y="2819400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超高清性能调优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834">
            <a:off x="9398019" y="3422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398000" y="3556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针对8K/16K超高清游戏资源进行底层渲染算法重构，优化内存占用与处理速度，确保大分辨率素材处理的高效、稳定运行。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4572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4762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239000" y="4724400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AI模型深度进化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0834">
            <a:off x="6794519" y="532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794500" y="5461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引入更先进的深度学习模型架构，强化复杂光影、模糊边缘场景下的图像识别精度，让自动化处理逻辑更贴合专业美术需求。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207500" y="4572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C2B4">
              <a:alpha val="6000"/>
            </a:srgbClr>
          </a:solidFill>
          <a:ln w="12700" cap="flat" cmpd="sng">
            <a:solidFill>
              <a:srgbClr val="00C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98000" y="47625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842500" y="4724400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引擎生态无缝集成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20834">
            <a:off x="9398019" y="532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B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9398000" y="5461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开发适配Unity、Cocos等主流游戏引擎的编辑器插件，打通工具与生产环境壁垒，实现资源处理到开发应用的一体化工作流衔接。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922000" y="5588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00C2B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176000" y="5842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C2B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685800"/>
            <a:ext cx="508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419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C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469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敬请老师批评指正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3581</Words>
  <Application>WPS 演示</Application>
  <PresentationFormat/>
  <Paragraphs>252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WPS_1732193354</cp:lastModifiedBy>
  <cp:revision>1</cp:revision>
  <dcterms:created xsi:type="dcterms:W3CDTF">2026-06-24T16:07:22Z</dcterms:created>
  <dcterms:modified xsi:type="dcterms:W3CDTF">2026-06-24T16:07:22Z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{"Label":"1","ContentProducer":"001191110102MACQD9K64010000","ProduceID":"7654793969515678952","ReservedCode1":"","ContentPropagator":"","PropagateID":"","ReservedCode2":""}</vt:lpwstr>
  </property>
  <property fmtid="{D5CDD505-2E9C-101B-9397-08002B2CF9AE}" pid="3" name="ICV">
    <vt:lpwstr>2F2306FD094C442985CEAA8E260C57D8_12</vt:lpwstr>
  </property>
  <property fmtid="{D5CDD505-2E9C-101B-9397-08002B2CF9AE}" pid="4" name="KSOProductBuildVer">
    <vt:lpwstr>2052-12.1.0.26895</vt:lpwstr>
  </property>
</Properties>
</file>