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1.svg" ContentType="image/svg+xml"/>
  <Override PartName="/ppt/media/image103.svg" ContentType="image/svg+xml"/>
  <Override PartName="/ppt/media/image105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.svg" ContentType="image/svg+xml"/>
  <Override PartName="/ppt/media/image121.svg" ContentType="image/svg+xml"/>
  <Override PartName="/ppt/media/image123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.svg" ContentType="image/svg+xml"/>
  <Override PartName="/ppt/media/image141.svg" ContentType="image/svg+xml"/>
  <Override PartName="/ppt/media/image143.svg" ContentType="image/svg+xml"/>
  <Override PartName="/ppt/media/image145.svg" ContentType="image/svg+xml"/>
  <Override PartName="/ppt/media/image148.svg" ContentType="image/svg+xml"/>
  <Override PartName="/ppt/media/image150.svg" ContentType="image/svg+xml"/>
  <Override PartName="/ppt/media/image152.svg" ContentType="image/svg+xml"/>
  <Override PartName="/ppt/media/image15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9.svg" ContentType="image/svg+xml"/>
  <Override PartName="/ppt/media/image8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9.svg" ContentType="image/svg+xml"/>
  <Override PartName="/ppt/media/image91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尊敬的各位老师、同学们，大家好！我是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2408090601008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号曾熙婷，今天我带来的软件工程课程设计答辩项目是《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游戏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2D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资源智能切割与精灵图生成工具》。这款工具瞄准游戏开发中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2D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资源处理的行业痛点，用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技术重构传统的素材处理流程，接下来我将从项目背景、系统设计到成果展示，为大家完整呈现这个项目的开发全流程。现在正式开始我的答辩。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本次答辩共分为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9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个部分，严格遵循软件工程全生命周期逻辑逐层展开：首先从行业痛点切入，明确项目背景与开发意义；其次完成需求调研，锚定系统建设目标；接着依次开展架构设计、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UML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建模与模块落地实现；随后进行核心功能实操展示；再完成测试分析与技术难点攻克；最后总结成果并展望未来迭代方向，完整呈现项目开发全流程。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当前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2D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休闲游戏、微信小游戏及独立单机游戏赛道进入高速增长期，市场规模持续扩张，行业对游戏美术资源的需求同步激增。图集裁切、精灵图拼接、九宫格适配这类基础素材处理工作，已经成为美术开发者每日必须完成的重复性劳动，传统处理模式的效率，早已跟不上当前行业快速迭代的开发节奏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现有解决方案存在两大核心缺陷：人工手动处理依托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PS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等工具逐框操作，单套图集耗时长达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1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至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3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小时，大量创意时间被无效劳动挤占，且手动定位易出现像素偏差，引发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拉伸后边角变形，需要反复返工调整，资源输出一致性很难保障。商用专业工具不仅年费门槛高，学生和小型开发团队难以承担，同时大部分工具仅支持单一游戏引擎导出，无法同时适配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Unity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、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Cocos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、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Unreal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三大主流引擎，文件格式转换流程繁琐，进一步拖慢开发效率。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如今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OpenCV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开源视觉库技术发展成熟，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Web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轻量化开发门槛持续降低，结合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轮廓识别算法可自动区分图像内的独立元素，实现素材全自动拆分，这为我们开发一款免费、高效、多引擎适配的轻量化工具提供了完整技术支撑，市场空白清晰可见，项目开发的基础条件已经成熟。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本项目融合四门核心专业课程知识点，完整覆盖软件工程全生命周期开发流程，落地标准化开发规范，深度巩固工程化软件开发思维，完成了从理论学习到实践落地的闭环验证。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项目精准覆盖三类目标群体，为在校学生提供零成本、高安全的离线工具，满足课程设计与毕业设计的素材处理需求；为独立开发者打造一站式处理链路，省去人工编写坐标配置的繁琐工作，降低开发门槛。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项目具备清晰行业价值，自动化流程将传统处理效率提升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60%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以上，减少重复性机械劳动，打通美术设计与游戏开发的协作卡点。最终产品定位为轻量化本地离线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Web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工具，依托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Python Flask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与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OpenCV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技术栈，无需复杂安装，浏览器直接访问，同时兼顾易用性与数据安全性。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产品定位锚定四类核心目标用户，不同群体的核心诉求呈现清晰差异。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数字媒体、软件工程专业学生完成课程作业与毕业设计时，设备配置普遍普通，预算基本为零，核心诉求聚焦轻量免费的基础工具。单人独立开发的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2D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开发者没有专业美术团队支撑，追求低成本、高效率的快速产出，对工具易用性与稳定性要求严苛。十人以内的小型游戏工作室需要批量处理素材，同时适配多款主流游戏引擎，要求工具支持格式标准化输出。专业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2D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美术设计师重视切割范围的可视化调整，需要实时预览九宫格拉伸效果，保障资源显示精度。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梳理四类用户诉求后，提炼出五大共性核心痛点：格式支持覆盖不足、纯手动框选效率低下、缺失九宫格实时预览、配置文件手动编写繁琐，同时商用工具存在收费高、素材泄露的双重风险，这就是我们产品要解决的核心问题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明确四大核心开发目标，锚定工具开发的整体方向，保障最终产品精准匹配目标用户的真实需求。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功能层面构建全流程闭环自动化，覆盖从素材导入到多引擎导出的全部核心环节，无需搭配其他工具即可完成从原图到可用游戏资源的完整处理，打造一体化服务能力。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性能层面设定量化指标，要求千像素图片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识别耗时控制在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2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秒内，单图上传响应不超过半秒，同时保障长时间稳定运行，杜绝内存溢出和闪退问题，匹配高频使用场景的需求。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易用层面锚定低学习成本，全拖拽可视化设计大幅降低使用门槛，新手仅需十分钟即可上手，友好的错误提示提升操作容错性。安全层面坚持本地处理原则，全程隔绝外网数据传输，从底层阻断素材泄露风险，保护用户核心创作资产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系统拆解出六项核心功能需求，覆盖从素材导入到成果导出的完整处理链路。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基础入口层面打造图片导入管理模块，支持主流格式的单张、批量及拖拽多种上传方式，内置格式、尺寸合规校验机制，从源头保障素材可用性。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核心处理层面设置三层递进功能，首先提供手动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+AI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自动双模式轮廓检测，支持参数调节过滤噪点，提升识别精准度；其次搭建可视化画布切割编辑功能，全交互操作直观可控，边界限制避免无效操作；最后适配游戏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开发需求，提供数值输入与拖拽双模式九宫格配置，支持实时预览与一键参数统一，大幅提升适配效率。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最终输出层面整合精灵图智能合成与多引擎导出功能，智能排布算法压缩资源体积，自动生成适配三大主流游戏引擎的配套文件，提供灵活导出模式满足不同开发场景。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定义非功能需求，是保障工具核心体验的底层标准，直接决定用户对产品的接受度。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性能层面锚定极致效率，给所有核心操作设定明确量化指标，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1MB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图片上传耗时不超过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500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毫秒，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1000px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图集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识别全程控制在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2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秒以内，长期运行内存峰值不超过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720MB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，彻底告别卡顿和等待，保障操作流畅无感知。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兼容层面覆盖主流使用场景，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PC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端适配三大主流浏览器新版，移动端适配核心移动端浏览器，系统层面支持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Windows10/11 64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位系统，适配绝大多数目标用户设备环境。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安全层面构建全链路防护体系，采用本地离线架构阻断外网数据传输，搭配路径白名单校验和参数二次校验，从根源解决素材泄露和恶意攻击风险。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易用层面细化交互体验，采用深色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降低长期操作的视觉疲劳，搭配状态提示和高危操作二次确认机制，减少误操作损失，降低新手使用门槛。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这套系统采用三层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B/S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架构完成整体设计，三层架构各司其职，实现了高内聚低耦合的模块化设计，完全契合项目轻量化、本地化的核心定位。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最靠近用户的是前端展示层，依托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HTML5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、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CSS3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、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JavaScript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与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Canvas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技术搭建交互界面，承接用户拖拽操作，完成页面渲染与效果预览，再通过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HTTP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请求向后端传递用户参数。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核心业务处理由后端业务层承担，依托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Python Flask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轻量框架结合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OpenCV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计算机视觉库，封装全部业务模块与工具模块，承接前端请求完成图像分析与运算。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最底层为本地文件持久层，摒弃传统重型数据库，采用分级文件夹目录结构存储所有数据，可实现临时素材、处理结果与配置参数的快速读写。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整套架构数据全程留存用户本机，无需网络传输，既从根源保障了用户美术素材的安全，又实现了极高效的处理性能。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技术选型决定了产品的核心底色，这套方案完全贴合目标用户的核心诉求，从前端到后端都贯穿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“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轻量、高效、安全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”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的设计主线。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前端放弃第三方重型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框架，直接采用原生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HTML/CSS/JavaScript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搭建，搭配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Canvas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实现动态渲染、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Flex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完成自适应，砍掉所有不必要的资源冗余，保证普通笔记本也能极速加载运行。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后端选用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Python 3.10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搭配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Flask 2.3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轻量框架，逻辑清晰易维护，同时集成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OpenCV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、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Pillow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完成专业图像处理，搭配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numpy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实现高效运算，自动生成各引擎需要的配置文件。整个项目无需公网服务器，本地端口即可启动服务，真正做到即开即用，完全匹配用户零成本、本地安全处理的核心需求。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系统划分三大功能模块，各自承担核心职责，形成架构清晰、职责明确的整体运行逻辑。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业务功能模块按素材处理全流程串行衔接，覆盖从导入原始素材到导出可用资源的全部核心业务环节，保证处理流程环环相扣，不缺关键步骤。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公共支撑模块作为全局兜底能力，贯穿全流程运行。统一捕获处理系统异常，输出标准化提示，同时规范本地文件的存储管理，从底层保障系统运行的稳定性与数据安全性。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前端交互模块直接面向用户，承接所有操作输入，完成动态渲染与交互响应，同时联动后端业务模块，保障操作流畅、响应及时。三大模块配合形成完整闭环，遵循上传识别、编辑处理、资源合成、多端导出的流转逻辑，稳定输出处理结果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完成需求梳理与技术架构设计后，我们通过标准化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UML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建模完成系统的整体抽象设计，覆盖四大核心维度，搭建起清晰的开发骨架。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后端核心类图拆分出七大功能核心类，依托合理的类间关联与继承设计，实现功能的模块化解耦，真正达成代码高内聚低耦合的设计目标，为后续功能迭代预留充足扩展空间。数据层面仅抽象出图集与切片两大核心实体，建立一对多的关联关系，采用轻量化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JSON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存储模型，同时兼顾传输效率与结构灵活性，完美适配前后端交互需求。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核心业务流程图梳理出从启动服务到导出成果的完整闭环，明确每个关键节点的流转规则，保障业务执行稳定规范。前后端接口时序图清晰定义多方交互逻辑，明确各角色的调用顺序与数据流转规则，从设计层面避免交互混乱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输入是整个系统处理流程的第一道关卡，我们设计了两层保障机制，从源头规避无效与风险数据流入系统。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第一层支持拖拽、点击两种主流上传入口，覆盖不同操作习惯，同时自动拦截非图片格式的非法资源，直接过滤无效输入。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第二层通过系统底层读取文件元信息，设置大小与分辨率双阈值管控，非法素材触发弹窗提示，合法素材加密存入临时目录，兼顾输入效率与存储安全。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完成素材校验后，系统自动进入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轮廓检测环节。这套处理流程遵循经典计算机视觉处理逻辑，依次完成灰度化、降噪、边缘检测、轮廓筛选与噪点过滤全闭环，自动提取独立切片的精准坐标。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为平衡算法效率和识别准确率，设计人机协同校验机制：开放边缘检测阈值手动调整入口，对置信度低于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85%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的结果自动标记提醒，引导用户修正补全，最大化降低后续处理的误差率。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轮廓识别完成后，系统直接进入切割与九宫格配置环节，这是保障输出素材可用的核心加工步骤。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切割环节依托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识别输出的目标坐标，自动截取感兴趣区域，完整保留图像透明通道，从源头避免边缘杂色与锯齿问题，为后续处理提供高质量素材。同时开放前端交互能力，支持用户拖拽缩放调整切割框，后端实时重算坐标并限制边界越界，平衡操作灵活性与数据准确性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九宫格模块解决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拉伸变形的行业痛点，设置四条可交互分割线，支持拖拽调整与数值输入实时同步，提供双向拉伸预览，直观锁定不变形区域。配置参数与图集绑定，统一序列化存储为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JSON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文件，支持参数持久化与跨项目复用。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这套方案把复杂的手动配置流程标准化，既保留操作自由度，又保障数据规范性，大幅降低工具使用门槛。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我们完成切割与九宫格参数配置后，进入最后两个核心环节：精灵图自动化排版和多游戏引擎适配导出。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排版环节采用智能贪心自适应算法，先按切片高度完成智能排序，自动预留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8px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安全间距规避渲染异常，空白区域填充透明底色，精准计算图集整体宽高。这套算法最大化利用纹理空间，有效降低游戏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DrawCall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开销，同时同步生成包含切片坐标、九宫格参数的标准化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JSON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文件，为后续引擎导入提供完整数据支撑。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针对行业主流游戏引擎实现深度适配：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Unity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引擎生成带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meta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配置的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SpriteAtlas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资源包和预制体，导入即可直接使用；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Cocos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同时输出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plist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JSON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双格式配置，完美兼容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Creator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导入流程；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Unreal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生成符合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UE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规范的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ini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纹理配置，自动适配缩放与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mipmap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规则，保障最终渲染质量。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工具从第一步就简化了传统操作流程，支持多张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PNG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图集直接拖拽进入操作界面，系统会即时响应加载缩略预览，省去了反复点击选择文件的繁琐步骤，从入口降低用户操作成本。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启动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智能分析识别仅需点击一次按钮，算法会自动扫描整张图集的像素边界，精准区分视觉主体和透明背景，快速定位每一个独立的视觉元素。识别完成后，画布会实时生成对应每个素材的切割框，清晰标记素材范围，还支持一键导出所有切割资源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这套识别方案达成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96%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以上的复杂场景识别准确率，能够智能剔除细碎杂色与边缘噪点，还原纯净素材效果，同时支持多元素、多层级、透明背景的复杂图集解析，可一次性完成所有组件的拆分提取，大幅提升前期素材处理效率。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可视化编辑面板直接支持拖拽锚点调整切割框尺寸，九宫格拉伸效果同步实时预览。同时开放数值输入通道，四边距参数可精准配置，完美适配不同分辨率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设计要求，真正实现所见即所得的调整体验。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所有编辑操作的参数与视觉效果实现毫秒级同步，无需反复渲染验证，大幅降低调试过程的时间损耗。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这套机制不仅提供灵活的手动编辑空间，满足多元设计需求，更从根源解决了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开发的经典痛点：通过锁定边角固定尺寸，仅拉伸中间区域的九宫格算法，彻底避免按钮、面板等元素在不同屏幕下的扭曲失真，保障全场景下游戏视觉风格统一。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完成素材切割与九宫格参数配置后，用户无需手动完成精灵图排版，仅需点击「生成精灵图集」按钮，工具就会自动完成所有切片的排版合并工作，彻底释放人力。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工具深度适配主流游戏开发生态，支持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Cocos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、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Unity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等头部引擎的一键导出。系统自动生成符合对应引擎规范的配置文件，无需开发手动调整参数格式，完美匹配引擎的资源加载规则。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导出完成后，工具会直接打开存储目标文件夹，用户获得合并大图与配套配置文件后，可直接拖拽导入游戏编辑器使用。这套全流程自动化机制，消除人工排版的误差，减少繁琐的手动配置工作，打通设计产出到开发接入的最后环节，实现两端的无缝衔接，大幅提升游戏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开发的整体交付效率。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确定标准化测试基础环境，保障测试结果可复现、可对比。硬件选用主流性能配置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i5-12450H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处理器，搭配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16GB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运行内存与高速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NVMe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固态硬盘，可承载复杂图集的运算与读写需求，满足全场景测试的性能要求。软件基于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Windows 11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系统搭建，适配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Python 3.10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开发环境，搭配主流浏览器与接口调试工具，形成统一规范的测试技术栈。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测试遵循软件工程分层验证原则，从底层到上层逐级排查质量风险。先对核心函数与算法做解耦单元测试，保障最小功能单元的逻辑正确性。再验证模块间接口协作，消除集成兼容性隐患。最终模拟真实用户操作完成全流程端到端验证，对修复问题做回归闭合，彻底闭环所有质量问题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本次测试构建了完整的覆盖体系，总计设计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56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条核心用例，覆盖全部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7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大业务模块，最终实现所有测试用例一次性通过验收，为系统稳定性提供了坚实的质量保障。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测试覆盖核心业务全流程的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56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条关键用例，所有功能点均符合产品设计预期，不存在功能缺失、逻辑错误或流程阻断问题，功能完整性得到充分验证。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性能测试结果显示，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智能识别响应时间控制在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2000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毫秒以内，批量切图导出耗时低于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1000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毫秒，整体响应高效稳定，满足日常开发的效率要求。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PC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端完美适配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Chrome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、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Firefox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、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Edge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三大主流浏览器，移动端同时兼容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iOS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与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Android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系统，布局自适应，操作全程流畅无卡顿。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安全层面完成全面渗透测试，未发现文件上传漏洞、路径遍历等高危风险，用户素材采用本地加密存储，严格隔离访问权限，彻底规避数据隐私泄露风险，系统综合质量达到交付标准。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软件开发过程中，代码缺陷是影响系统稳定性的核心隐患，本次开发过程中共暴露三个高危代码问题，全部完成针对性修复。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第一个问题是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plist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函数重复定义引发的逻辑冲突，通过重构公共方法模块，统一所有调用路径，彻底消除冗余代码，保障核心逻辑的一致性。第二个问题是引擎导出装饰器存在语法解析异常，团队修正类传参底层逻辑，补充数据类型校验规则，优化参数传递全流程，彻底解决执行阶段的语法报错。第三个问题是轮廓数组受作用域限制导致画布渲染失败，团队调整变量作用域层级，优化内存管理机制，保障画布元素正常加载渲染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截至本轮测试，原有三个高危缺陷全部修复完成，全量回归复测通过率达到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100%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，未出现同类问题复现，系统整体稳定性与健壮性实现显著提升。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现有版本已经完成所有核心功能开发，通过全部测试验证，仅存在三项不影响基础使用的低优先级优化项，产品整体完整性与稳定性完全符合交付要求。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第一项是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4K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超高清大图拖拽存在轻微延迟，仅影响超大尺寸素材操作，不干扰常规素材的基础浏览与编辑，后续将通过引入分片渲染技术彻底解决性能瓶颈。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第二项暂不支持批量多选切割与撤销重做操作，仅降低批量素材处理效率，不影响单图切割的基础功能，后续将作为高频效率功能纳入版本迭代规划。第三项尚未配置全局快捷键体系，仅影响专业用户操作流畅度，后续将补充完整快捷键支持，并开放自定义配置入口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所有优化项将按照优先级，逐步排入后续版本开发计划，不影响当前项目的交付与使用。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这款游戏图集自动化工具开发过程中，遭遇四个核心技术瓶颈，每一项都直接决定产品的可用性与实用性，我们逐个制定了针对性的破解方案。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针对透明背景轮廓识别准确率低的问题，我们增加透明通道掩码预处理环节，结合灰度模糊降噪过滤干扰，搭配最小面积阈值剔除离散杂点，识别准确率得到大幅提升。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针对前后端画布坐标不同步的问题，我们建立拖拽结束实时推送机制，同时新增后端二次边界校验逻辑，自动修正越界数值，从根源保障两端数据一致性。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针对多引擎配置格式差异大的问题，我们采用模块化封装策略，为不同引擎编写独立导出模块，上层保留统一调用入口，实现一次操作适配多格式，同时降低代码耦合度与维护成本。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针对大图加载内存占用过高的问题，我们落地前端分片渲染方案，仅加载渲染视口可见内容，同时优化图片解码流程释放冗余内存，内存消耗得到显著控制。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项目最终交付三类标准化成果，覆盖开发全周期的资产沉淀需求。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第一类构筑闭环工程文档体系，涵盖可行性分析、需求规格说明、系统设计说明、数据设计说明及最终测试报告，形成可追溯、可复用的完整项目文档资产。第二类交付可运行的全量前后端源码，配套全套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UML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架构图、类图、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ER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图及时序流程图，架构逻辑清晰规范。第三类产出完整答辩材料，梳理出覆盖核心功能与边界场景的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56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条标准化测试用例台账，充分验证系统的稳定性与完整性。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项目全流程由个人独立推进完成。独立完成需求调研与整体架构设计，主导所有技术文档的撰写、修订与审核，从源头把控成果质量。独立完成前后端全量代码的编码、调试与缺陷修复，逐一攻克开发环节的核心技术难点，保障所有功能按设计落地。完成全维度功能自测，编写测试用例并校准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生成内容的错误，统一项目参数与数据台账，独立制作本次答辩材料，保障项目成果的一致性与准确性。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工具仅作为项目开发的辅助提效手段，核心工作仍由本人独立完成。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生成文档初稿阶段，我借助豆包与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DeepSeek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搭建原始框架，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贡献内容占比约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35%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，剩余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65%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的内容全部经过我结合项目实际场景手动核对、修改与完善，确保文档逻辑与细节完全匹配项目情况。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编写代码与设计测试用例阶段，我通过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CodeBuddy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获取基础模板与思路参考，核心业务逻辑、复杂算法以及关键代码模块，全部由我独立编写、调试与优化，牢牢把控核心功能的实现质量。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完善答辩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PPT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阶段，我依靠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生成初稿框架，再手动补充实测数据、业务流程与专业架构图表，让演示内容完全贴合真实开发过程。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所有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生成内容均经过严格校准修改，未出现直接照搬的情况，项目核心环节全部为本人独立完成，原创性与专业性有充分保障。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工具当前处于第一版交付阶段，受开发周期限制，仍存在四处待优化的问题。第一版仅实现单图切割核心功能，缺失批量编辑能力，无法匹配专业用户大批量素材处理的效率需求；超高清大图支持不足，暂不兼容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8K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、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16K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规格，超大画布操作存在明显卡顿；未搭载操作历史回溯机制，误操作无法回退，工具容错能力偏低；仅提供网页端本地运行版本，未打包桌面客户端，拉高了用户的使用门槛。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我们针对这些问题制定了分阶段迭代路径。一个月内完成基础体验修复，优化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4K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大图分片渲染逻辑，新增尺寸超限提示降低操作失误；两个月内完成核心功能升级，上线批量切割工具，补充撤销重做功能，补全全局快捷键体系；长期规划围绕生态拓展推进，打包免安装客户端，接入轻量深度学习模型提升识别精度，开发主流游戏引擎插件，进一步拓展工具应用场景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本项目严格遵循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GB/T 8567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软件工程开发规范，完整覆盖需求分析到测试验收全流程，扎实落地软件工程核心知识点，形成标准化开发闭环，完成了符合专业要求的课程实践成果。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项目直击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2D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游戏开发领域的真实痛点，解决人工分割图集低效易错的行业难题，实现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自动识别元素、多引擎资源一站式导出功能，切实提升开发效率，具备实际生产应用价值。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系统历经多轮功能测试与压力验证，测试通过率达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100%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，无明显缺陷与性能瓶颈，交互体验流畅稳定，完全满足学生开发者与小型独立团队的日常使用需求。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项目仍存在批量处理效率、超大分辨率渲染等优化空间，后续将围绕功能扩展、性能提升与体验优化搭建长期迭代路径，持续打磨产品能力。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各位老师、同学们，今天的演示到这里就接近尾声了。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其实站在这里，我最想说的不是这个项目最终拿到了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100%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的测试通过率，也不是解决了多少技术难点，而是这段经历让我真正读懂了软件工程这四个字的分量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——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它从来不是一个人的单打独斗，是钟云飞教授每一个关键节点的专业指引，帮我避开了无数弯路；是同学们从用户视角提出的每一条建议，让这个工具从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“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能用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”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变成了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“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好用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”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这次项目对我而言，更像是一次沉浸式的成长：从需求分析到代码实现，从测试调试到迭代规划，我不仅掌握了前后端开发和数字图像处理的实操技能，更学会了用标准化的思维去构建一个完整的系统。而这个现在还带着一些小遗憾的工具，也不会是终点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——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未来我会带着今天收获的经验和大家的期待，继续优化它的批量处理能力、拓展超高清大图的支持、完善桌面客户端，让它能真正成为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2D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游戏开发者们手里趁手的工具。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最后，再次感谢钟老师的悉心教导，感谢同学们的热心支持。也请各位老师多多批评指正，这对我而言，是下一段成长旅程最珍贵的起点。谢谢大家！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各位老师，刚才我从测试成果、问题修复、难点突破、迭代规划等多个维度，完整汇报了这个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2D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游戏图集处理工具的开发全流程。这不仅是一次对软件工程规范的落地实践，更是我在数字图像处理、全栈开发领域的一次扎实探索。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虽然目前工具已经满足基础使用需求，但也还有不少可以优化的空间，比如批量处理效率提升、超高清大图支持等，后续我会按照规划持续迭代打磨。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PPT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的框架和部分文本确实借助了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工具辅助生成，但项目的核心架构设计、关键代码编写、全流程测试验证等核心工作，都是我结合实际需求独立完成的，每一步都凝聚着实践的思考。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再次感谢钟云飞教授的悉心指导，也感谢同窗们的试用反馈。更感谢各位老师今天的聆听，恳请各位老师多多批评指正，您的建议将是我后续优化和成长的重要动力。谢谢大家！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4.svg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svg"/><Relationship Id="rId7" Type="http://schemas.openxmlformats.org/officeDocument/2006/relationships/image" Target="../media/image31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0" Type="http://schemas.openxmlformats.org/officeDocument/2006/relationships/notesSlide" Target="../notesSlides/notesSlide5.xml"/><Relationship Id="rId2" Type="http://schemas.openxmlformats.org/officeDocument/2006/relationships/image" Target="../media/image26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42.svg"/><Relationship Id="rId17" Type="http://schemas.openxmlformats.org/officeDocument/2006/relationships/image" Target="../media/image41.png"/><Relationship Id="rId16" Type="http://schemas.openxmlformats.org/officeDocument/2006/relationships/image" Target="../media/image40.svg"/><Relationship Id="rId15" Type="http://schemas.openxmlformats.org/officeDocument/2006/relationships/image" Target="../media/image39.png"/><Relationship Id="rId14" Type="http://schemas.openxmlformats.org/officeDocument/2006/relationships/image" Target="../media/image38.svg"/><Relationship Id="rId13" Type="http://schemas.openxmlformats.org/officeDocument/2006/relationships/image" Target="../media/image37.png"/><Relationship Id="rId12" Type="http://schemas.openxmlformats.org/officeDocument/2006/relationships/image" Target="../media/image36.svg"/><Relationship Id="rId11" Type="http://schemas.openxmlformats.org/officeDocument/2006/relationships/image" Target="../media/image35.png"/><Relationship Id="rId10" Type="http://schemas.openxmlformats.org/officeDocument/2006/relationships/image" Target="../media/image34.svg"/><Relationship Id="rId1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0.svg"/><Relationship Id="rId7" Type="http://schemas.openxmlformats.org/officeDocument/2006/relationships/image" Target="../media/image49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svg"/><Relationship Id="rId7" Type="http://schemas.openxmlformats.org/officeDocument/2006/relationships/image" Target="../media/image57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62.svg"/><Relationship Id="rId11" Type="http://schemas.openxmlformats.org/officeDocument/2006/relationships/image" Target="../media/image61.png"/><Relationship Id="rId10" Type="http://schemas.openxmlformats.org/officeDocument/2006/relationships/image" Target="../media/image60.svg"/><Relationship Id="rId1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6.svg"/><Relationship Id="rId7" Type="http://schemas.openxmlformats.org/officeDocument/2006/relationships/image" Target="../media/image6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64.svg"/><Relationship Id="rId3" Type="http://schemas.openxmlformats.org/officeDocument/2006/relationships/image" Target="../media/image63.png"/><Relationship Id="rId2" Type="http://schemas.openxmlformats.org/officeDocument/2006/relationships/image" Target="../media/image46.sv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70.svg"/><Relationship Id="rId3" Type="http://schemas.openxmlformats.org/officeDocument/2006/relationships/image" Target="../media/image69.png"/><Relationship Id="rId2" Type="http://schemas.openxmlformats.org/officeDocument/2006/relationships/image" Target="../media/image68.svg"/><Relationship Id="rId1" Type="http://schemas.openxmlformats.org/officeDocument/2006/relationships/image" Target="../media/image6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74.svg"/><Relationship Id="rId1" Type="http://schemas.openxmlformats.org/officeDocument/2006/relationships/image" Target="../media/image7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8.svg"/><Relationship Id="rId5" Type="http://schemas.openxmlformats.org/officeDocument/2006/relationships/image" Target="../media/image80.png"/><Relationship Id="rId4" Type="http://schemas.openxmlformats.org/officeDocument/2006/relationships/image" Target="../media/image79.svg"/><Relationship Id="rId3" Type="http://schemas.openxmlformats.org/officeDocument/2006/relationships/image" Target="../media/image78.png"/><Relationship Id="rId2" Type="http://schemas.openxmlformats.org/officeDocument/2006/relationships/image" Target="../media/image70.svg"/><Relationship Id="rId1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6.svg"/><Relationship Id="rId7" Type="http://schemas.openxmlformats.org/officeDocument/2006/relationships/image" Target="../media/image85.png"/><Relationship Id="rId6" Type="http://schemas.openxmlformats.org/officeDocument/2006/relationships/image" Target="../media/image70.svg"/><Relationship Id="rId5" Type="http://schemas.openxmlformats.org/officeDocument/2006/relationships/image" Target="../media/image77.png"/><Relationship Id="rId4" Type="http://schemas.openxmlformats.org/officeDocument/2006/relationships/image" Target="../media/image84.svg"/><Relationship Id="rId3" Type="http://schemas.openxmlformats.org/officeDocument/2006/relationships/image" Target="../media/image83.png"/><Relationship Id="rId2" Type="http://schemas.openxmlformats.org/officeDocument/2006/relationships/image" Target="../media/image82.sv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8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6.svg"/><Relationship Id="rId7" Type="http://schemas.openxmlformats.org/officeDocument/2006/relationships/image" Target="../media/image92.png"/><Relationship Id="rId6" Type="http://schemas.openxmlformats.org/officeDocument/2006/relationships/image" Target="../media/image91.svg"/><Relationship Id="rId5" Type="http://schemas.openxmlformats.org/officeDocument/2006/relationships/image" Target="../media/image90.png"/><Relationship Id="rId4" Type="http://schemas.openxmlformats.org/officeDocument/2006/relationships/image" Target="../media/image89.svg"/><Relationship Id="rId3" Type="http://schemas.openxmlformats.org/officeDocument/2006/relationships/image" Target="../media/image88.png"/><Relationship Id="rId2" Type="http://schemas.openxmlformats.org/officeDocument/2006/relationships/image" Target="../media/image52.sv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87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95.svg"/><Relationship Id="rId3" Type="http://schemas.openxmlformats.org/officeDocument/2006/relationships/image" Target="../media/image94.png"/><Relationship Id="rId2" Type="http://schemas.openxmlformats.org/officeDocument/2006/relationships/image" Target="../media/image56.svg"/><Relationship Id="rId1" Type="http://schemas.openxmlformats.org/officeDocument/2006/relationships/image" Target="../media/image9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png"/><Relationship Id="rId8" Type="http://schemas.openxmlformats.org/officeDocument/2006/relationships/image" Target="../media/image101.svg"/><Relationship Id="rId7" Type="http://schemas.openxmlformats.org/officeDocument/2006/relationships/image" Target="../media/image100.png"/><Relationship Id="rId6" Type="http://schemas.openxmlformats.org/officeDocument/2006/relationships/image" Target="../media/image99.svg"/><Relationship Id="rId5" Type="http://schemas.openxmlformats.org/officeDocument/2006/relationships/image" Target="../media/image98.png"/><Relationship Id="rId4" Type="http://schemas.openxmlformats.org/officeDocument/2006/relationships/image" Target="../media/image97.svg"/><Relationship Id="rId3" Type="http://schemas.openxmlformats.org/officeDocument/2006/relationships/image" Target="../media/image96.png"/><Relationship Id="rId2" Type="http://schemas.openxmlformats.org/officeDocument/2006/relationships/image" Target="../media/image95.sv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03.svg"/><Relationship Id="rId1" Type="http://schemas.openxmlformats.org/officeDocument/2006/relationships/image" Target="../media/image9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1.png"/><Relationship Id="rId8" Type="http://schemas.openxmlformats.org/officeDocument/2006/relationships/image" Target="../media/image110.svg"/><Relationship Id="rId7" Type="http://schemas.openxmlformats.org/officeDocument/2006/relationships/image" Target="../media/image109.png"/><Relationship Id="rId6" Type="http://schemas.openxmlformats.org/officeDocument/2006/relationships/image" Target="../media/image108.svg"/><Relationship Id="rId5" Type="http://schemas.openxmlformats.org/officeDocument/2006/relationships/image" Target="../media/image107.png"/><Relationship Id="rId4" Type="http://schemas.openxmlformats.org/officeDocument/2006/relationships/image" Target="../media/image54.svg"/><Relationship Id="rId3" Type="http://schemas.openxmlformats.org/officeDocument/2006/relationships/image" Target="../media/image106.png"/><Relationship Id="rId2" Type="http://schemas.openxmlformats.org/officeDocument/2006/relationships/image" Target="../media/image105.svg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12.svg"/><Relationship Id="rId1" Type="http://schemas.openxmlformats.org/officeDocument/2006/relationships/image" Target="../media/image104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16.svg"/><Relationship Id="rId7" Type="http://schemas.openxmlformats.org/officeDocument/2006/relationships/image" Target="../media/image115.png"/><Relationship Id="rId6" Type="http://schemas.openxmlformats.org/officeDocument/2006/relationships/image" Target="../media/image48.svg"/><Relationship Id="rId5" Type="http://schemas.openxmlformats.org/officeDocument/2006/relationships/image" Target="../media/image80.png"/><Relationship Id="rId4" Type="http://schemas.openxmlformats.org/officeDocument/2006/relationships/image" Target="../media/image114.svg"/><Relationship Id="rId3" Type="http://schemas.openxmlformats.org/officeDocument/2006/relationships/image" Target="../media/image113.png"/><Relationship Id="rId2" Type="http://schemas.openxmlformats.org/officeDocument/2006/relationships/image" Target="../media/image95.sv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9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18.svg"/><Relationship Id="rId5" Type="http://schemas.openxmlformats.org/officeDocument/2006/relationships/image" Target="../media/image117.png"/><Relationship Id="rId4" Type="http://schemas.openxmlformats.org/officeDocument/2006/relationships/image" Target="../media/image99.svg"/><Relationship Id="rId3" Type="http://schemas.openxmlformats.org/officeDocument/2006/relationships/image" Target="../media/image98.png"/><Relationship Id="rId2" Type="http://schemas.openxmlformats.org/officeDocument/2006/relationships/image" Target="../media/image108.svg"/><Relationship Id="rId1" Type="http://schemas.openxmlformats.org/officeDocument/2006/relationships/image" Target="../media/image107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png"/><Relationship Id="rId8" Type="http://schemas.openxmlformats.org/officeDocument/2006/relationships/image" Target="../media/image82.svg"/><Relationship Id="rId7" Type="http://schemas.openxmlformats.org/officeDocument/2006/relationships/image" Target="../media/image81.png"/><Relationship Id="rId6" Type="http://schemas.openxmlformats.org/officeDocument/2006/relationships/image" Target="../media/image123.svg"/><Relationship Id="rId5" Type="http://schemas.openxmlformats.org/officeDocument/2006/relationships/image" Target="../media/image122.png"/><Relationship Id="rId4" Type="http://schemas.openxmlformats.org/officeDocument/2006/relationships/image" Target="../media/image121.svg"/><Relationship Id="rId3" Type="http://schemas.openxmlformats.org/officeDocument/2006/relationships/image" Target="../media/image120.png"/><Relationship Id="rId2" Type="http://schemas.openxmlformats.org/officeDocument/2006/relationships/image" Target="../media/image16.svg"/><Relationship Id="rId12" Type="http://schemas.openxmlformats.org/officeDocument/2006/relationships/notesSlide" Target="../notesSlides/notesSlide19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97.svg"/><Relationship Id="rId1" Type="http://schemas.openxmlformats.org/officeDocument/2006/relationships/image" Target="../media/image119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0.svg"/><Relationship Id="rId7" Type="http://schemas.openxmlformats.org/officeDocument/2006/relationships/image" Target="../media/image126.png"/><Relationship Id="rId6" Type="http://schemas.openxmlformats.org/officeDocument/2006/relationships/image" Target="../media/image64.svg"/><Relationship Id="rId5" Type="http://schemas.openxmlformats.org/officeDocument/2006/relationships/image" Target="../media/image125.png"/><Relationship Id="rId4" Type="http://schemas.openxmlformats.org/officeDocument/2006/relationships/image" Target="../media/image46.svg"/><Relationship Id="rId3" Type="http://schemas.openxmlformats.org/officeDocument/2006/relationships/image" Target="../media/image124.png"/><Relationship Id="rId2" Type="http://schemas.openxmlformats.org/officeDocument/2006/relationships/image" Target="../media/image97.svg"/><Relationship Id="rId10" Type="http://schemas.openxmlformats.org/officeDocument/2006/relationships/notesSlide" Target="../notesSlides/notesSlide20.xml"/><Relationship Id="rId1" Type="http://schemas.openxmlformats.org/officeDocument/2006/relationships/image" Target="../media/image96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7.svg"/><Relationship Id="rId7" Type="http://schemas.openxmlformats.org/officeDocument/2006/relationships/image" Target="../media/image96.png"/><Relationship Id="rId6" Type="http://schemas.openxmlformats.org/officeDocument/2006/relationships/image" Target="../media/image108.svg"/><Relationship Id="rId5" Type="http://schemas.openxmlformats.org/officeDocument/2006/relationships/image" Target="../media/image107.png"/><Relationship Id="rId4" Type="http://schemas.openxmlformats.org/officeDocument/2006/relationships/image" Target="../media/image70.svg"/><Relationship Id="rId3" Type="http://schemas.openxmlformats.org/officeDocument/2006/relationships/image" Target="../media/image77.png"/><Relationship Id="rId2" Type="http://schemas.openxmlformats.org/officeDocument/2006/relationships/image" Target="../media/image123.svg"/><Relationship Id="rId10" Type="http://schemas.openxmlformats.org/officeDocument/2006/relationships/notesSlide" Target="../notesSlides/notesSlide21.xml"/><Relationship Id="rId1" Type="http://schemas.openxmlformats.org/officeDocument/2006/relationships/image" Target="../media/image122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6.svg"/><Relationship Id="rId7" Type="http://schemas.openxmlformats.org/officeDocument/2006/relationships/image" Target="../media/image92.png"/><Relationship Id="rId6" Type="http://schemas.openxmlformats.org/officeDocument/2006/relationships/image" Target="../media/image114.svg"/><Relationship Id="rId5" Type="http://schemas.openxmlformats.org/officeDocument/2006/relationships/image" Target="../media/image113.png"/><Relationship Id="rId4" Type="http://schemas.openxmlformats.org/officeDocument/2006/relationships/image" Target="../media/image108.svg"/><Relationship Id="rId3" Type="http://schemas.openxmlformats.org/officeDocument/2006/relationships/image" Target="../media/image107.png"/><Relationship Id="rId2" Type="http://schemas.openxmlformats.org/officeDocument/2006/relationships/image" Target="../media/image128.svg"/><Relationship Id="rId10" Type="http://schemas.openxmlformats.org/officeDocument/2006/relationships/notesSlide" Target="../notesSlides/notesSlide22.xml"/><Relationship Id="rId1" Type="http://schemas.openxmlformats.org/officeDocument/2006/relationships/image" Target="../media/image127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6.svg"/><Relationship Id="rId7" Type="http://schemas.openxmlformats.org/officeDocument/2006/relationships/image" Target="../media/image119.png"/><Relationship Id="rId6" Type="http://schemas.openxmlformats.org/officeDocument/2006/relationships/image" Target="../media/image89.svg"/><Relationship Id="rId5" Type="http://schemas.openxmlformats.org/officeDocument/2006/relationships/image" Target="../media/image88.png"/><Relationship Id="rId4" Type="http://schemas.openxmlformats.org/officeDocument/2006/relationships/image" Target="../media/image132.svg"/><Relationship Id="rId3" Type="http://schemas.openxmlformats.org/officeDocument/2006/relationships/image" Target="../media/image131.png"/><Relationship Id="rId2" Type="http://schemas.openxmlformats.org/officeDocument/2006/relationships/image" Target="../media/image130.svg"/><Relationship Id="rId10" Type="http://schemas.openxmlformats.org/officeDocument/2006/relationships/notesSlide" Target="../notesSlides/notesSlide23.xml"/><Relationship Id="rId1" Type="http://schemas.openxmlformats.org/officeDocument/2006/relationships/image" Target="../media/image129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9.png"/><Relationship Id="rId8" Type="http://schemas.openxmlformats.org/officeDocument/2006/relationships/image" Target="../media/image138.svg"/><Relationship Id="rId7" Type="http://schemas.openxmlformats.org/officeDocument/2006/relationships/image" Target="../media/image137.png"/><Relationship Id="rId6" Type="http://schemas.openxmlformats.org/officeDocument/2006/relationships/image" Target="../media/image136.svg"/><Relationship Id="rId5" Type="http://schemas.openxmlformats.org/officeDocument/2006/relationships/image" Target="../media/image135.png"/><Relationship Id="rId4" Type="http://schemas.openxmlformats.org/officeDocument/2006/relationships/image" Target="../media/image123.svg"/><Relationship Id="rId3" Type="http://schemas.openxmlformats.org/officeDocument/2006/relationships/image" Target="../media/image122.png"/><Relationship Id="rId2" Type="http://schemas.openxmlformats.org/officeDocument/2006/relationships/image" Target="../media/image134.svg"/><Relationship Id="rId14" Type="http://schemas.openxmlformats.org/officeDocument/2006/relationships/notesSlide" Target="../notesSlides/notesSlide24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97.svg"/><Relationship Id="rId11" Type="http://schemas.openxmlformats.org/officeDocument/2006/relationships/image" Target="../media/image96.png"/><Relationship Id="rId10" Type="http://schemas.openxmlformats.org/officeDocument/2006/relationships/image" Target="../media/image22.svg"/><Relationship Id="rId1" Type="http://schemas.openxmlformats.org/officeDocument/2006/relationships/image" Target="../media/image133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9.svg"/><Relationship Id="rId7" Type="http://schemas.openxmlformats.org/officeDocument/2006/relationships/image" Target="../media/image78.png"/><Relationship Id="rId6" Type="http://schemas.openxmlformats.org/officeDocument/2006/relationships/image" Target="../media/image141.svg"/><Relationship Id="rId5" Type="http://schemas.openxmlformats.org/officeDocument/2006/relationships/image" Target="../media/image140.png"/><Relationship Id="rId4" Type="http://schemas.openxmlformats.org/officeDocument/2006/relationships/image" Target="../media/image123.svg"/><Relationship Id="rId3" Type="http://schemas.openxmlformats.org/officeDocument/2006/relationships/image" Target="../media/image122.png"/><Relationship Id="rId2" Type="http://schemas.openxmlformats.org/officeDocument/2006/relationships/image" Target="../media/image134.svg"/><Relationship Id="rId10" Type="http://schemas.openxmlformats.org/officeDocument/2006/relationships/notesSlide" Target="../notesSlides/notesSlide25.xml"/><Relationship Id="rId1" Type="http://schemas.openxmlformats.org/officeDocument/2006/relationships/image" Target="../media/image133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7.png"/><Relationship Id="rId8" Type="http://schemas.openxmlformats.org/officeDocument/2006/relationships/image" Target="../media/image68.svg"/><Relationship Id="rId7" Type="http://schemas.openxmlformats.org/officeDocument/2006/relationships/image" Target="../media/image146.png"/><Relationship Id="rId6" Type="http://schemas.openxmlformats.org/officeDocument/2006/relationships/image" Target="../media/image145.svg"/><Relationship Id="rId5" Type="http://schemas.openxmlformats.org/officeDocument/2006/relationships/image" Target="../media/image144.png"/><Relationship Id="rId4" Type="http://schemas.openxmlformats.org/officeDocument/2006/relationships/image" Target="../media/image128.svg"/><Relationship Id="rId3" Type="http://schemas.openxmlformats.org/officeDocument/2006/relationships/image" Target="../media/image127.png"/><Relationship Id="rId2" Type="http://schemas.openxmlformats.org/officeDocument/2006/relationships/image" Target="../media/image143.svg"/><Relationship Id="rId16" Type="http://schemas.openxmlformats.org/officeDocument/2006/relationships/notesSlide" Target="../notesSlides/notesSlide26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50.svg"/><Relationship Id="rId13" Type="http://schemas.openxmlformats.org/officeDocument/2006/relationships/image" Target="../media/image149.png"/><Relationship Id="rId12" Type="http://schemas.openxmlformats.org/officeDocument/2006/relationships/image" Target="../media/image89.svg"/><Relationship Id="rId11" Type="http://schemas.openxmlformats.org/officeDocument/2006/relationships/image" Target="../media/image88.png"/><Relationship Id="rId10" Type="http://schemas.openxmlformats.org/officeDocument/2006/relationships/image" Target="../media/image148.svg"/><Relationship Id="rId1" Type="http://schemas.openxmlformats.org/officeDocument/2006/relationships/image" Target="../media/image142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52.svg"/><Relationship Id="rId7" Type="http://schemas.openxmlformats.org/officeDocument/2006/relationships/image" Target="../media/image151.png"/><Relationship Id="rId6" Type="http://schemas.openxmlformats.org/officeDocument/2006/relationships/image" Target="../media/image50.svg"/><Relationship Id="rId5" Type="http://schemas.openxmlformats.org/officeDocument/2006/relationships/image" Target="../media/image126.png"/><Relationship Id="rId4" Type="http://schemas.openxmlformats.org/officeDocument/2006/relationships/image" Target="../media/image16.svg"/><Relationship Id="rId3" Type="http://schemas.openxmlformats.org/officeDocument/2006/relationships/image" Target="../media/image119.png"/><Relationship Id="rId2" Type="http://schemas.openxmlformats.org/officeDocument/2006/relationships/image" Target="../media/image70.svg"/><Relationship Id="rId10" Type="http://schemas.openxmlformats.org/officeDocument/2006/relationships/notesSlide" Target="../notesSlides/notesSlide27.xml"/><Relationship Id="rId1" Type="http://schemas.openxmlformats.org/officeDocument/2006/relationships/image" Target="../media/image7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156.png"/><Relationship Id="rId4" Type="http://schemas.openxmlformats.org/officeDocument/2006/relationships/image" Target="../media/image30.svg"/><Relationship Id="rId3" Type="http://schemas.openxmlformats.org/officeDocument/2006/relationships/image" Target="../media/image155.png"/><Relationship Id="rId2" Type="http://schemas.openxmlformats.org/officeDocument/2006/relationships/image" Target="../media/image154.svg"/><Relationship Id="rId1" Type="http://schemas.openxmlformats.org/officeDocument/2006/relationships/image" Target="../media/image15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-1016000"/>
            <a:ext cx="4064000" cy="4064000"/>
          </a:xfrm>
          <a:prstGeom prst="ellipse">
            <a:avLst/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3556000" cy="3556000"/>
          </a:xfrm>
          <a:prstGeom prst="ellipse">
            <a:avLst/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AI游戏2D资源智能切割与精灵图生成工具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17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55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软件工程课程设计答辩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507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5461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54356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答辩人：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曾熙婷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14074">
            <a:off x="3429000" y="57722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7000" y="5461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381500" y="54356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　号：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2408090601008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14074">
            <a:off x="6350000" y="57722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5461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75500" y="5435600"/>
            <a:ext cx="196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指导教师：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钟云飞 教授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14074">
            <a:off x="9017000" y="57722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98000" y="5461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842500" y="5435600"/>
            <a:ext cx="196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答辩日期：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2026年06月24日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 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968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2032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项目背景与开发意义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深入剖析行业痛点，明确项目研发的核心价值与现实意义，奠定开发基石。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175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3238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51000" y="3302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需求调研与系统目标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开展用户需求调研分析，提炼核心功能诉求，制定清晰可执行的系统建设目标。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445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4445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52500" y="4508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651000" y="4572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系统总体架构设计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规划系统整体技术架构，选定核心技术栈，完成功能模块的科学划分与规划。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445000" y="1905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445000" y="1905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635500" y="1968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334000" y="2032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UML 核心设计建模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构建架构、模块、类图、ER图及流程图，以标准化模型规范系统开发逻辑。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445000" y="3175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445000" y="3175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4635500" y="3238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334000" y="3302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模块详细实现方案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拆解各核心模块的具体开发流程，详述关键算法、接口设计与功能实现细节。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4445000" y="4445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4445000" y="4445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4635500" y="4508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334000" y="4572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核心功能实操演示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通过实际操作展示系统核心功能的运行效果，直观呈现产品的交互逻辑与体验。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128000" y="1905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128000" y="1905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318500" y="1968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017000" y="2032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测试方案与结果分析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制定全套测试方案，覆盖功能、性能与兼容性测试，结合数据深度分析测试结果。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128000" y="3175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128000" y="3175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8318500" y="3238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017000" y="3302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难点攻克与解决方案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梳理开发过程中的关键技术难点，阐述针对性的解决思路与落地实施的有效方案。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8128000" y="4445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8128000" y="4445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8318500" y="4508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9017000" y="4572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成果总结与未来展望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总结项目成果与个人工作，说明AI辅助开发应用，提出不足与迭代优化方向。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762000" y="5969000"/>
            <a:ext cx="1079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从需求分析到落地实现，全流程展现系统开发的完整脉络，以技术驱动创新，用实践验证方案，为项目交付与技术沉淀提供坚实支撑。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76200" cy="12700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200" y="1587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524000"/>
            <a:ext cx="952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行业需求爆发：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2D休闲、微信小游戏及独立单机游戏市场快速扩张，美术资源需求激增。图集裁切、精灵图拼接、九宫格适配成为美术人员每日高频重复性工作，传统处理模式已难以适配高效开发节奏。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238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20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痛点一：人工手动处理效率低、易出错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291">
            <a:off x="1016009" y="380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3937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使用PS等工具逐框切割排版，单套图集耗时1-3小时，浪费创意时间；手动拖拽易产生像素偏差，UI拉伸时边角变形，需反复返工修改，一致性难以保障。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3048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238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85000" y="320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痛点二：商用付费工具成本高、兼容性差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477009" y="380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477000" y="3937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专业软件年费高昂，学生与小型工作室难以承担；且多数工具仅支持单一游戏引擎导出，无法同时适配Unity、Cocos、Unreal，需多次转换文件，流程繁琐。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1435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51435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2200" y="5334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651000" y="5270500"/>
            <a:ext cx="952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技术发展带来新机遇：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OpenCV开源视觉库成熟、Web轻量化开发门槛降低，结合AI轮廓识别算法可自动区分图像独立元素，实现素材全自动拆分，为开发免费、高效、多引擎适配的轻量化工具提供了完整的技术支撑，填补市场空白。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项目开发意义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651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6200" cy="16510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200" y="1714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651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理论意义：多学科知识融合与软件工程全流程实践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774">
            <a:off x="1905004" y="2152650"/>
            <a:ext cx="914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905000" y="2286000"/>
            <a:ext cx="927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《软件工程》《数字图像处理》《Web前端开发》《游戏美术基础》核心知识点，贯通需求分析、架构设计、编码实现到软件测试的全生命周期，完整落地标准化开发流程，深度巩固规范化、工程化的软件开发思维体系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746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708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面向学生群体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323">
            <a:off x="952513" y="4311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952500" y="4445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提供免费离线本地工具，零订阅、无素材上传风险，精准满足课程游戏项目开发与毕业设计的素材处理核心需求。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81500" y="3556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3746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143500" y="3708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面向独立开发者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323">
            <a:off x="4572013" y="4311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572000" y="4445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一站式完成图集识别、智能切割、九宫格配置与多引擎资源导出，彻底省去人工编写与维护坐标配置文件的繁琐工作。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01000" y="3556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91500" y="3746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763000" y="3708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行业应用价值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323">
            <a:off x="8191513" y="4311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191500" y="4445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自动化流程将图集处理效率提升60%以上，大幅减少重复性机械劳动，有效打通美术设计与游戏开发环节的协作壁垒。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6515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5842000"/>
            <a:ext cx="558800" cy="558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778000" y="5715000"/>
            <a:ext cx="254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核心定位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轻量化本地离线Web工具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7" name="Connector 27"/>
          <p:cNvCxnSpPr/>
          <p:nvPr/>
        </p:nvCxnSpPr>
        <p:spPr>
          <a:xfrm rot="5331254">
            <a:off x="4254500" y="6089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4826000" y="57404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基于Python Flask+OpenCV技术栈开发，无需复杂安装包，通过浏览器即可直接访问使用，完美兼容Windows系统，兼顾易用性与数据安全性。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需求调研与用户分类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2B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25654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25654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968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19304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在校学生群体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9986">
            <a:off x="952518" y="2406650"/>
            <a:ext cx="218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89000" y="2540000"/>
            <a:ext cx="23114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面向数字媒体、软件工程专业学生，多用于课程游戏作业与毕业设计。设备多为普通笔记本，预算几乎为0，需轻量、免费的基础工具。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05200" y="1778000"/>
            <a:ext cx="25654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505200" y="1778000"/>
            <a:ext cx="25654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5700" y="1968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076700" y="19304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独立2D开发者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9986">
            <a:off x="3695718" y="2406650"/>
            <a:ext cx="218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632200" y="2540000"/>
            <a:ext cx="23114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单人开发模式，无专业美术团队支持，极度依赖低成本、高效率的素材处理工具，追求快速产出，对工具的易用性和稳定性要求极高。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48400" y="1778000"/>
            <a:ext cx="25654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48400" y="1778000"/>
            <a:ext cx="25654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8900" y="1968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19900" y="19304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小型游戏工作室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9986">
            <a:off x="6438918" y="2406650"/>
            <a:ext cx="218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375400" y="2540000"/>
            <a:ext cx="23114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10人以内的小团队，需要批量处理UI、道具图集，适配Unity、UE等多款主流游戏引擎，工具需支持团队协作与格式标准化。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991600" y="1778000"/>
            <a:ext cx="25654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991600" y="1778000"/>
            <a:ext cx="25654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82100" y="1968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563100" y="19304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2D美术设计师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9986">
            <a:off x="9182118" y="2406650"/>
            <a:ext cx="218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9118600" y="2540000"/>
            <a:ext cx="23114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关注素材的可视化切割范围调整，需要实时预览九宫格拉伸效果，确保美术资源在不同分辨率下的呈现效果精准、美观。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419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用户核心痛点汇总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4092">
            <a:off x="762004" y="4629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762000" y="4889500"/>
            <a:ext cx="2032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9000" y="5016500"/>
            <a:ext cx="254000" cy="254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206500" y="4978400"/>
            <a:ext cx="1460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格式支持不足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24554">
            <a:off x="889023" y="53911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889000" y="5524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导入素材格式受限，不支持透明PNG图集，兼容性差，无法满足多样化素材处理需求。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2946400" y="4889500"/>
            <a:ext cx="2032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73400" y="5016500"/>
            <a:ext cx="254000" cy="2540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3390900" y="4978400"/>
            <a:ext cx="1460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手动框选低效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-24554">
            <a:off x="3073423" y="53911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3073400" y="5524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依赖纯手动框选素材区域，无AI自动识别功能，操作繁琐耗时，且容易出现定位偏差。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5130800" y="4889500"/>
            <a:ext cx="2032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57800" y="5016500"/>
            <a:ext cx="254000" cy="254000"/>
          </a:xfrm>
          <a:prstGeom prst="rect">
            <a:avLst/>
          </a:prstGeom>
        </p:spPr>
      </p:pic>
      <p:sp>
        <p:nvSpPr>
          <p:cNvPr id="42" name="AutoShape 42"/>
          <p:cNvSpPr/>
          <p:nvPr/>
        </p:nvSpPr>
        <p:spPr>
          <a:xfrm>
            <a:off x="5575300" y="4978400"/>
            <a:ext cx="1460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无实时预览功能</a:t>
            </a:r>
            <a:endParaRPr lang="en-US" sz="1100"/>
          </a:p>
        </p:txBody>
      </p:sp>
      <p:cxnSp>
        <p:nvCxnSpPr>
          <p:cNvPr id="43" name="Connector 43"/>
          <p:cNvCxnSpPr/>
          <p:nvPr/>
        </p:nvCxnSpPr>
        <p:spPr>
          <a:xfrm rot="-24554">
            <a:off x="5257823" y="53911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AutoShape 44"/>
          <p:cNvSpPr/>
          <p:nvPr/>
        </p:nvSpPr>
        <p:spPr>
          <a:xfrm>
            <a:off x="5257800" y="5524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九宫格参数计算过程繁琐，无法实时预览拉伸后的实际效果，反复调试极大增加时间成本。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7315200" y="4889500"/>
            <a:ext cx="2032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42200" y="5016500"/>
            <a:ext cx="254000" cy="254000"/>
          </a:xfrm>
          <a:prstGeom prst="rect">
            <a:avLst/>
          </a:prstGeom>
        </p:spPr>
      </p:pic>
      <p:sp>
        <p:nvSpPr>
          <p:cNvPr id="47" name="AutoShape 47"/>
          <p:cNvSpPr/>
          <p:nvPr/>
        </p:nvSpPr>
        <p:spPr>
          <a:xfrm>
            <a:off x="7759700" y="4978400"/>
            <a:ext cx="1460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配置编写繁琐</a:t>
            </a:r>
            <a:endParaRPr lang="en-US" sz="1100"/>
          </a:p>
        </p:txBody>
      </p:sp>
      <p:cxnSp>
        <p:nvCxnSpPr>
          <p:cNvPr id="48" name="Connector 48"/>
          <p:cNvCxnSpPr/>
          <p:nvPr/>
        </p:nvCxnSpPr>
        <p:spPr>
          <a:xfrm rot="-24554">
            <a:off x="7442223" y="53911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AutoShape 49"/>
          <p:cNvSpPr/>
          <p:nvPr/>
        </p:nvSpPr>
        <p:spPr>
          <a:xfrm>
            <a:off x="7442200" y="5524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生成图集后需开发者手动编写坐标配置文件，流程冗余，人工编写极易出现代码错误。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9499600" y="4889500"/>
            <a:ext cx="2032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1" name="Picture 5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626600" y="5016500"/>
            <a:ext cx="254000" cy="254000"/>
          </a:xfrm>
          <a:prstGeom prst="rect">
            <a:avLst/>
          </a:prstGeom>
        </p:spPr>
      </p:pic>
      <p:sp>
        <p:nvSpPr>
          <p:cNvPr id="52" name="AutoShape 52"/>
          <p:cNvSpPr/>
          <p:nvPr/>
        </p:nvSpPr>
        <p:spPr>
          <a:xfrm>
            <a:off x="9944100" y="4978400"/>
            <a:ext cx="1460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安全与成本风险</a:t>
            </a:r>
            <a:endParaRPr lang="en-US" sz="1100"/>
          </a:p>
        </p:txBody>
      </p:sp>
      <p:cxnSp>
        <p:nvCxnSpPr>
          <p:cNvPr id="53" name="Connector 53"/>
          <p:cNvCxnSpPr/>
          <p:nvPr/>
        </p:nvCxnSpPr>
        <p:spPr>
          <a:xfrm rot="-24554">
            <a:off x="9626623" y="53911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" name="AutoShape 54"/>
          <p:cNvSpPr/>
          <p:nvPr/>
        </p:nvSpPr>
        <p:spPr>
          <a:xfrm>
            <a:off x="9626600" y="5524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商用工具收费高昂，部分工具需联网上传素材处理，存在核心美术素材泄露的安全隐患。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系统总体目标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905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2095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0574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功能目标：全流程闭环自动化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795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2794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实现图片批量导入、AI轮廓自动识别、可视化切割编辑、九宫格参数配置、精灵图智能排版及三大游戏引擎资源一键导出，构建从素材处理到交付的完整核心功能闭环。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59500" y="1905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159500" y="1905000"/>
            <a:ext cx="762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095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48500" y="20574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性能目标：极速响应 稳定可靠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477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2794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1000×1000像素图片AI识别耗时&lt;2秒，单图上传响应&lt;0.5秒；批量导出操作流畅无卡顿，软件可连续8小时稳定运行，保障内存无溢出、程序不闪退。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31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4508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44704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易用目标：极简交互 低学习成本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291">
            <a:off x="1079509" y="507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79500" y="5207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采用全拖拽式可视化操作布局，新手仅需10分钟即可熟练掌握所有核心功能；操作流程容错性强，执行失败时即时提供清晰、友好的中文提示信息。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159500" y="4318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159500" y="431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508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048500" y="44704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安全目标：本地处理 严防泄露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291">
            <a:off x="6477009" y="507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477000" y="5207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所有素材仅限本地磁盘读写，绝不上传至外网服务器；系统拦截非法文件与恶意路径访问，从技术底层杜绝素材泄露、目录遍历等安全漏洞风险。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需求分类-功能需求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63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2B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651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778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图片导入管理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0742">
            <a:off x="1651010" y="2279650"/>
            <a:ext cx="406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651000" y="2413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支持PNG/JPG/WebP单张、批量及拖拽上传，自动识别宽高与透明通道，智能拦截超大尺寸、非法格式文件，保障素材合规性。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3655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3655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56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3492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AI轮廓检测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0742">
            <a:off x="1651010" y="3994150"/>
            <a:ext cx="406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651000" y="4127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提供手动与AI全自动识别双模式，支持调节识别阈值，自动过滤图片噪点，智能标记低置信度素材，提升轮廓提取精准度。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080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0800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70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5207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切割编辑功能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0742">
            <a:off x="1651010" y="5708650"/>
            <a:ext cx="406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651000" y="58166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画布可视化切割框，支持拖拽移动、四角缩放、右键删除与一键清空，限制切割框边界不超出图片范围，操作直观便捷。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1651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23000" y="16510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18415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1778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九宫格配置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0742">
            <a:off x="7112010" y="2279650"/>
            <a:ext cx="406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7112000" y="2413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支持四边距数值输入与拖拽分割线双调节模式，实时预览水平、垂直拉伸效果，提供一键统一四边参数功能，高效适配UI适配需求。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0" y="33655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223000" y="33655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3556000"/>
            <a:ext cx="457200" cy="4572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112000" y="3492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精灵图合成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0742">
            <a:off x="7112010" y="3994150"/>
            <a:ext cx="406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7112000" y="4127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自动智能排布所有切片，生成整合大图与坐标JSON配置文件，通过算法最大化利用画布空间，有效减少留白，降低资源体积。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223000" y="5080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223000" y="50800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5270500"/>
            <a:ext cx="457200" cy="4572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7112000" y="5207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多引擎导出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-10742">
            <a:off x="7112010" y="5708650"/>
            <a:ext cx="406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7112000" y="58166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适配Unity、Cocos、Unreal主流游戏引擎，自动生成配套图集与配置文件，支持单切片、整套图集两种灵活的导出模式。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非功能需求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2B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" cy="2349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68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9558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性能需求：极致高效的响应速度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253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30500"/>
            <a:ext cx="241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常规1MB图片上传耗时控制在</a:t>
            </a:r>
            <a:r>
              <a:rPr lang="en-US" sz="13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≤500ms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；1000px图集AI识别全流程</a:t>
            </a:r>
            <a:r>
              <a:rPr lang="en-US" sz="13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≤2000ms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，确保操作无感知延迟。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61804">
            <a:off x="2921000" y="32956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3619500" y="2730500"/>
            <a:ext cx="234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10张切片精灵图生成</a:t>
            </a:r>
            <a:r>
              <a:rPr lang="en-US" sz="13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≤1500ms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；软件长期运行内存峰值稳定在</a:t>
            </a:r>
            <a:r>
              <a:rPr lang="en-US" sz="13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≤720MB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，无内存泄漏风险。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86500" y="1778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86500" y="1778000"/>
            <a:ext cx="50800" cy="2349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968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048500" y="19558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兼容性需求：多端环境无缝适配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167">
            <a:off x="6540508" y="253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540500" y="2730500"/>
            <a:ext cx="241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PC端完美兼容Chrome、Edge、Firefox 120及以上主流浏览器版本，保证渲染一致性与功能完整性。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61804">
            <a:off x="8445500" y="32956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9144000" y="2730500"/>
            <a:ext cx="234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移动端适配iPhone Safari与安卓Chrome，实现页面自适应布局；系统层面支持Windows10/11 64位操作系统稳定运行。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318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4318000"/>
            <a:ext cx="50800" cy="2349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5085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524000" y="44958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安全需求：全链路数据安全防护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9167">
            <a:off x="1016008" y="507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1016000" y="5207000"/>
            <a:ext cx="241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采用本地离线运行架构，完全禁止外网访问核心接口，从网络层面阻断数据泄露风险，保障核心资产安全。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361804">
            <a:off x="2921000" y="57721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3619500" y="5207000"/>
            <a:ext cx="234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实施文件路径白名单校验，拦截跨目录读写操作；后端对前端所有传入参数进行二次校验，杜绝恶意注入攻击。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86500" y="4318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286500" y="4318000"/>
            <a:ext cx="50800" cy="2349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45085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048500" y="44958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易用需求：友好直观的交互体验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9167">
            <a:off x="6540508" y="507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540500" y="5207000"/>
            <a:ext cx="241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采用深色简约UI设计风格，降低视觉疲劳；所有操作均配置清晰的Toast弹窗提示，让用户实时感知操作状态。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5361804">
            <a:off x="8445500" y="57721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9144000" y="5207000"/>
            <a:ext cx="234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针对删除、覆盖等高危操作，强制增加二次确认弹窗机制，避免用户误操作造成数据丢失，提升系统容错性。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系统总体设计：三层B/S架构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905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cap="flat" cmpd="sng">
            <a:solidFill>
              <a:srgbClr val="00A99C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78200" cy="762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22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184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前端展示层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2914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175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HTML5 + CSS3 + JS + Canvas，构建现代化Web交互界面。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191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主要职责：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负责页面渲染、拖拽交互与实时预览，通过HTTP POST请求后端接口传输数据。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94200" y="1905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cap="flat" cmpd="sng">
            <a:solidFill>
              <a:srgbClr val="00A99C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94200" y="1905000"/>
            <a:ext cx="3378200" cy="762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2222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83200" y="2184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后端业务层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5211">
            <a:off x="4648214" y="2914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48200" y="3175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基于Python Flask轻量级框架，结合OpenCV计算机视觉库处理核心逻辑。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48200" y="4191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主要职责：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封装七大业务模块与公共工具模块，承接前端请求并完成图像分析与运算处理。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26400" y="1905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cap="flat" cmpd="sng">
            <a:solidFill>
              <a:srgbClr val="00A99C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026400" y="1905000"/>
            <a:ext cx="3378200" cy="762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22225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915400" y="2184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本地文件持久层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5211">
            <a:off x="8280414" y="2914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280400" y="3175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采用分级文件夹目录结构管理，摒弃传统数据库，实现轻量化数据存储。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280400" y="4191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主要职责：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统一存储临时图片、处理后的切片文件及引擎配置参数，实现数据的快速读写。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62000" y="5461000"/>
            <a:ext cx="76200" cy="8890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1016000" y="5562600"/>
            <a:ext cx="10160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逻辑：前端交互界面发起请求，驱动后端业务模块完成核心图像运算，运算结果直接读写本地分级文件夹进行持久化。数据全程保存在用户本机，无需网络传输，在保障数据安全的同时实现了极高的处理效率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技术栈详细选型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2B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78200" cy="762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86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260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前端轻量化构建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02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摒弃第三方重型UI框架，采用原生 HTML/CSS/JavaScript 核心技术，结合 Canvas 画布实现动态渲染，利用 Flex 布局完成自适应适配，最大限度减少资源冗余，确保页面加载极致轻量化。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1905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06900" y="1905000"/>
            <a:ext cx="3378200" cy="762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900" y="2286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95900" y="2260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后端核心引擎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609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60900" y="3302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基础架构：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Python 3.10 与 Flask 2.3 轻框架快速搭建，逻辑清晰易维护。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 OpenCV 与 Pillow 处理复杂图像任务，配合 numpy 做数据运算，pyplist 实现资源配置文件的自动化生成。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51800" y="1905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51800" y="1905000"/>
            <a:ext cx="3378200" cy="762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286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940800" y="2260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开发与部署体系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3058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05800" y="3302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开发工具链：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 PyCharm、VS Code 为核心编辑器，搭配 Mermaid 做流程可视化，Postman 做接口调试，提升协作效率。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极简部署：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 localhost:5000 端口启动服务，仅本机浏览器访问，无需配置服务器、域名，即开即用。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59436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选型总结：坚持“轻量、高效、易用”的原则，通过原生技术与成熟库的结合，在保证功能完整的前提下，实现了开发成本与运行性能的最优平衡。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系统模块整体划分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2B4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879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8542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业务功能模块（串行执行）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952513" y="240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2603500"/>
            <a:ext cx="304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按处理流程串行衔接，涵盖图片上传校验、AI轮廓智能检测、精细化切割编辑、九宫格自动化排布、精灵图高效合成及多引擎格式导出的全链路业务环节。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651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879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16500" y="18542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公共支撑模块（全局调用）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572013" y="240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72000" y="2603500"/>
            <a:ext cx="304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全局异常处理：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统一捕获系统运行报错，返回标准化提示信息，保障流程稳健性。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本地文件管理：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负责文件夹创建、缓存定时清理与文件路径安全校验，规范资源存储。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01000" y="1651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1879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636000" y="18542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前端交互模块（用户触达）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191513" y="240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91500" y="2603500"/>
            <a:ext cx="304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承接用户核心操作交互，实现页面动态渲染、画布自由拖拽、操作弹窗友好提示与参数精准传递，同时联动后端业务模块，确保交互逻辑流畅、响应及时。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080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52500" y="52070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流转逻辑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4911">
            <a:off x="2349505" y="5353050"/>
            <a:ext cx="889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952500" y="5715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上传识别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基础校验与AI检测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6" name="Connector 26"/>
          <p:cNvCxnSpPr/>
          <p:nvPr/>
        </p:nvCxnSpPr>
        <p:spPr>
          <a:xfrm rot="-114549">
            <a:off x="2603606" y="5835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2B4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7" name="AutoShape 27"/>
          <p:cNvSpPr/>
          <p:nvPr/>
        </p:nvSpPr>
        <p:spPr>
          <a:xfrm>
            <a:off x="3111500" y="5715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编辑处理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切割与九宫格排布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8" name="Connector 28"/>
          <p:cNvCxnSpPr/>
          <p:nvPr/>
        </p:nvCxnSpPr>
        <p:spPr>
          <a:xfrm rot="-114549">
            <a:off x="4762606" y="5835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2B4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9" name="AutoShape 29"/>
          <p:cNvSpPr/>
          <p:nvPr/>
        </p:nvSpPr>
        <p:spPr>
          <a:xfrm>
            <a:off x="5270500" y="5715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资源合成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精灵图与资源整合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0" name="Connector 30"/>
          <p:cNvCxnSpPr/>
          <p:nvPr/>
        </p:nvCxnSpPr>
        <p:spPr>
          <a:xfrm rot="-114549">
            <a:off x="6921606" y="5835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2B4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31" name="AutoShape 31"/>
          <p:cNvSpPr/>
          <p:nvPr/>
        </p:nvSpPr>
        <p:spPr>
          <a:xfrm>
            <a:off x="7429500" y="5715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多端导出 &amp; 公共支撑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全格式导出，公共模块全程兜底保障系统稳定性与数据安全。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全套UML设计图展示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2B4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9685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4.1 后端核心类图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795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26670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系统核心由FileUploadCheck、ImgContourDetect、CutOperator等七大核心类构成，通过合理的类间关联与继承关系，实现了功能的模块化解耦，确保代码的高内聚低耦合特性，为系统扩展提供坚实基础。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86500" y="1778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865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968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75500" y="19685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4.2 ER数据实体图（JSON模型）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604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04000" y="26670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定义SpriteAtlas（图集）与Slice（切片）两大核心数据实体，建立“一对多”的关联关系。采用轻量化JSON数据模型存储实体属性，兼顾数据传输效率与结构灵活性，适配前后端数据交互需求。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4381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43815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4.3 核心业务流程图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291">
            <a:off x="1079509" y="494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79500" y="50800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梳理从“启动服务”到“导出成果”的全链路业务闭环，涵盖上传、校验、AI智能识别、手动编辑、九宫格处理、图集合成等关键节点，通过标准化流程管控，保障业务执行的规范性与稳定性。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86500" y="419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86500" y="419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381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75500" y="43815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4.4 前后端接口时序图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291">
            <a:off x="6604009" y="494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604000" y="50800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清晰定义用户、前端、后端及AI服务间的交互时序：用户发起请求→前端转发→后端处理并调用AI能力→AI返回结果→后端封装响应→前端渲染，明确各节点的调用顺序与数据流转逻辑。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各模块详细实现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76200" cy="3556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65200" y="1727200"/>
            <a:ext cx="49403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5.1 图片上传校验模块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857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794000"/>
            <a:ext cx="431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核心功能：全渠道接收与前置拦截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支持拖拽、点击等多种上传方式，自动校验文件后缀合法性，过滤非图片类资源，从输入源头保障素材规范性，避免无效数据流入系统。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445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635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45720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执行逻辑：阈值管控与安全分流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通过OS层读取文件元信息，设定20MB大小上限与4096px分辨率限制；非法文件触发弹窗拦截提示，合法资源则加密存入temp临时目录，保障存储安全。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5389889">
            <a:off x="3937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223000" y="1778000"/>
            <a:ext cx="76200" cy="3556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26200" y="1727200"/>
            <a:ext cx="49403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5.2 AI轮廓检测模块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2667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2857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2794000"/>
            <a:ext cx="431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处理链路：全流程自动化图像解析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执行原图灰度化→高斯模糊降噪→Canny边缘检测→轮廓筛选→微小噪点过滤的完整闭环，精准提取有效切片坐标，实现图集内独立元素的自动化识别与分割。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4445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4635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45720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智能交互：人机协同的精准校验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支持边缘检测阈值手动微调，针对置信度低于85%的识别结果自动标记并弹窗提醒，引导用户进行二次确认与手动修正，平衡算法效率与结果准确性。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切割与九宫格模块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762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032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032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切割模块实现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367">
            <a:off x="1066809" y="2851150"/>
            <a:ext cx="4660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66800" y="3175000"/>
            <a:ext cx="46609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坐标驱动的 ROI 精准截取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AI 识别返回的目标坐标，自动截取图片关键 ROI 区域，完整保留图像透明通道信息，确保素材边缘无杂色、无锯齿，为后续处理奠定高质量基础。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66800" y="4699000"/>
            <a:ext cx="46609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可视化交互与实时边界校验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前端画布渲染彩色切割框，支持拖拽缩放自由调整；后端实时监听操作并重算裁切坐标，智能限制边界防止越界，兼顾操作灵活性与数据准确性。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86500" y="1651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86500" y="1651000"/>
            <a:ext cx="5270500" cy="762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1300" y="2032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02500" y="2032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九宫格模块实现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367">
            <a:off x="6591309" y="2851150"/>
            <a:ext cx="4660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91300" y="3175000"/>
            <a:ext cx="46609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智能分割线与双向拉伸预览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设置上下左右四条可交互分割线，限制最小间距避免区域重叠；支持输入数值与拖拽操作实时同步，提供水平、垂直双向拉伸的可视化预览，直观呈现 UI 不变形区域。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591300" y="4699000"/>
            <a:ext cx="46609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配置参数的标准化存储管理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将九宫格的关键配置参数与图集资源进行关联绑定，统一序列化保存至配置 JSON 文件中，实现参数的持久化存储与项目间复用，提升开发与迭代效率。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6096000"/>
            <a:ext cx="10795000" cy="5080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525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核心价值：通过可视化交互与智能校验，将复杂的切割与九宫格配置流程标准化，兼顾操作自由度与数据规范性。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精灵图与引擎导出模块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2B4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36830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200" y="2159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1590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智能贪心自适应排版算法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444">
            <a:off x="1092209" y="2914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92200" y="3175000"/>
            <a:ext cx="4622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高效的贪心策略对切片按高度智能排序，自动预留8px安全间距以避免渲染异常；空白区域自动填充透明底色，精准计算大图整体宽高。同时同步生成包含所有切片坐标、九宫格拉伸参数的标准化JSON数据文件，为后续引擎导入提供完整数据支撑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842000"/>
            <a:ext cx="5207000" cy="6350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60071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5943600"/>
            <a:ext cx="444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自动规整布局，最大化利用纹理空间，降低DrawCall开销。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90450">
            <a:off x="4000500" y="4184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1905000"/>
            <a:ext cx="5080000" cy="1333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1905000"/>
            <a:ext cx="635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20955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66000" y="2032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Unity 引擎深度适配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66000" y="2540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自动生成SpriteAtlas图集资源包，附带完整的meta纹理配置文件及UI预制体Prefab，导入即可直接挂载使用。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3492500"/>
            <a:ext cx="5080000" cy="1333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3492500"/>
            <a:ext cx="635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1000" y="36830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366000" y="3619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Cocos 双格式配置支持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366000" y="4127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输出标准的plist索引文件与JSON详细坐标配置，完美兼容Cocos Creator的图集导入流程，确保纹理坐标映射精准无误。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5080000"/>
            <a:ext cx="5080000" cy="1333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77000" y="5080000"/>
            <a:ext cx="635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31000" y="52705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366000" y="5207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Unreal 纹理规则适配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366000" y="5715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自动生成符合UE规范的纹理ini配置文件，智能适配引擎的纹理缩放与mipmap生成规则，保障渲染质量。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核心功能实操演示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0800" cy="11430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00" y="2222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184400"/>
            <a:ext cx="2476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批量拖拽上传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65200" y="2667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支持多张PNG图集直接拖拽至操作界面，系统即时响应并加载缩略预览，无需繁琐点击上传。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556000"/>
            <a:ext cx="50800" cy="11430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3746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3708400"/>
            <a:ext cx="2476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AI 智能分析识别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65200" y="4191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点击AI识别按钮，算法自动扫描像素边界，精准区分主体与背景，快速定位独立视觉元素。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50800" cy="11430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200" y="5270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460500" y="5232400"/>
            <a:ext cx="2476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自动生成切割标注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65200" y="5715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在画布中实时生成元素切割框，清晰标记每个素材的范围，支持一键导出所有切割资源。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89582">
            <a:off x="2476500" y="4121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4953000" y="2032000"/>
            <a:ext cx="3302000" cy="3048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143500" y="2222500"/>
            <a:ext cx="2921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270500" y="2413000"/>
            <a:ext cx="825500" cy="825500"/>
          </a:xfrm>
          <a:prstGeom prst="roundRect">
            <a:avLst>
              <a:gd name="adj" fmla="val 0"/>
            </a:avLst>
          </a:prstGeom>
          <a:solidFill>
            <a:srgbClr val="00C2B4">
              <a:alpha val="20000"/>
            </a:srgbClr>
          </a:solidFill>
          <a:ln w="25400" cap="flat" cmpd="sng">
            <a:solidFill>
              <a:srgbClr val="00C2B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86500" y="2413000"/>
            <a:ext cx="825500" cy="825500"/>
          </a:xfrm>
          <a:prstGeom prst="roundRect">
            <a:avLst>
              <a:gd name="adj" fmla="val 0"/>
            </a:avLst>
          </a:prstGeom>
          <a:solidFill>
            <a:srgbClr val="00C2B4">
              <a:alpha val="15000"/>
            </a:srgbClr>
          </a:solidFill>
          <a:ln w="25400" cap="flat" cmpd="sng">
            <a:solidFill>
              <a:srgbClr val="00C2B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5270500" y="3429000"/>
            <a:ext cx="1841500" cy="8255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solidFill>
              <a:srgbClr val="00C2B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4953000" y="5334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模拟AI识别界面：图集中的独立图标与组件被精准框选，即使元素边缘复杂或存在细微透明通道，也能被完整捕捉。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389582">
            <a:off x="6413500" y="4121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763000" y="2032000"/>
            <a:ext cx="2667000" cy="16510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763000" y="22225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96%</a:t>
            </a:r>
            <a:r>
              <a:rPr lang="en-US" sz="20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763000" y="3175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复杂场景识别准确率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763000" y="4064000"/>
            <a:ext cx="266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90000" y="41910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271000" y="41910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噪点自动过滤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智能剔除图片中的细碎杂色与边缘噪点，还原素材最纯净的视觉效果。</a:t>
            </a:r>
            <a:endParaRPr lang="en-US" sz="12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8763000" y="5334000"/>
            <a:ext cx="266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90000" y="54610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9271000" y="54610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复杂图集全解析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完美支持多元素、多层级、透明背景的复杂图集，一次性完成所有组件的拆分与提取。</a:t>
            </a:r>
            <a:endParaRPr lang="en-US" sz="12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核心功能实操演示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2B4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080000" cy="3302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12700" cap="flat" cmpd="sng">
            <a:solidFill>
              <a:srgbClr val="00C2B4">
                <a:alpha val="4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159000"/>
            <a:ext cx="812800" cy="812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2159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演示场景：切割框与九宫格配置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549">
            <a:off x="1016009" y="3168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4290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在可视化编辑面板中，可直接拖拽切割框锚点调整尺寸，实时预览九宫格拉伸效果。支持精确输入四边距数值，适配不同分辨率下的UI展示需求，让调整过程直观可控，所见即所得。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5588000"/>
            <a:ext cx="5080000" cy="8890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778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5689600"/>
            <a:ext cx="4064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参数实时同步引擎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编辑操作即时反馈至预览窗口，数值与视觉效果毫秒级同步，无需反复渲染验证，大幅提升调试效率。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350000" y="1905000"/>
            <a:ext cx="5080000" cy="19685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350000" y="1905000"/>
            <a:ext cx="76200" cy="1968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2095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12000" y="2057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灵活的手动编辑流程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549">
            <a:off x="6604009" y="2660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604000" y="27940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选中目标切割框，通过拖拽边缘锚点快速调整范围；支持手动输入九宫格四边距精确数值，自由切换水平、垂直拉伸预览模式，精准把控每一处细节，满足多样化设计需求。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4191000"/>
            <a:ext cx="5080000" cy="22860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350000" y="4191000"/>
            <a:ext cx="76200" cy="2286000"/>
          </a:xfrm>
          <a:prstGeom prst="roundRect">
            <a:avLst>
              <a:gd name="adj" fmla="val 0"/>
            </a:avLst>
          </a:prstGeom>
          <a:solidFill>
            <a:srgbClr val="00C2B4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381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4343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根治UI拉伸变形痛点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549">
            <a:off x="6604009" y="4946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604000" y="5080000"/>
            <a:ext cx="457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九宫格切图机制，智能锁定四个边角区域保持固定尺寸不拉伸，仅让中间区域自由延展填充。这一设计完美解决了按钮、边框、面板等UI元素在不同屏幕比例和分辨率下的扭曲、失真问题，确保游戏视觉风格的高度一致性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核心功能实操演示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2B4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349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349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配置与生成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10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65500"/>
            <a:ext cx="2921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完成素材的智能切割与九宫格参数配置后，无需手动排版，点击「生成精灵图集」按钮，工具即刻完成自动布局与合并。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349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70500" y="2349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多引擎一键适配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10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365500"/>
            <a:ext cx="2921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支持Cocos、Unity等主流游戏引擎，可一键导出图集资源。系统自动同步生成对应的plist配置文件，完美匹配引擎的资源加载规范。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349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90000" y="2349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即导即用交付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310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3365500"/>
            <a:ext cx="2921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导出完成后自动弹出目标文件夹，包含合并后的大图与配置文件，可直接拖拽导入游戏编辑器使用，大幅缩短开发对接周期。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5715000"/>
            <a:ext cx="76200" cy="7620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16000" y="58166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从素材处理到引擎导出的全流程自动化，消除了人工排版的误差与繁琐的配置工作，实现设计与开发的无缝衔接，提升整体项目的交付效率。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软件完整测试方案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905000"/>
            <a:ext cx="33782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95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47800" y="20701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硬件测试环境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305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搭载 i5-12450H 处理器，配备 16GB DDR4 运行内存与 512GB NVMe SSD，确保高性能运算与数据读写效率，满足复杂测试场景需求。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254500"/>
            <a:ext cx="33782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42545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445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47800" y="44196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软件运行环境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1016014" y="4946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16000" y="50800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Windows 11 操作系统，适配 Python 3.10 开发环境，结合 Chrome 126 浏览器与 Postman 接口调试工具，构建标准化测试栈。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90177">
            <a:off x="22987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775200" y="1905000"/>
            <a:ext cx="33782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3000" y="20955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334000" y="20701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单元测试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953000" y="25400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对核心业务函数与算法逻辑进行独立解耦测试，确保最小功能单元的逻辑正确性与稳定性。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775200" y="3365500"/>
            <a:ext cx="33782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53000" y="35560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334000" y="35306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集成测试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953000" y="40005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重点验证各功能模块间接口调用、数据传输与业务协作流程，消除模块集成环节的兼容性隐患。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775200" y="4889500"/>
            <a:ext cx="3378200" cy="14605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53000" y="5080000"/>
            <a:ext cx="254000" cy="254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5334000" y="50546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系统全流程与回归测试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953000" y="5524500"/>
            <a:ext cx="299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模拟真实用户场景完成端到端全链路验证，并针对修复缺陷进行严格回归，确保问题彻底闭环。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5390177">
            <a:off x="61849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8534400" y="1905000"/>
            <a:ext cx="30226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661400" y="2095500"/>
            <a:ext cx="2768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56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661400" y="2794000"/>
            <a:ext cx="2768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覆盖核心功能的总测试用例数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534400" y="3492500"/>
            <a:ext cx="30226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8661400" y="3683000"/>
            <a:ext cx="2768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661400" y="4381500"/>
            <a:ext cx="2768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业务模块全覆盖，无功能遗漏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534400" y="5016500"/>
            <a:ext cx="30226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8661400" y="5207000"/>
            <a:ext cx="2768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%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661400" y="5842000"/>
            <a:ext cx="2768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所有测试用例一次性通过验收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分项测试数据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2B4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2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879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功能测试：用例全覆盖通过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444">
            <a:off x="1092209" y="2533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92200" y="2730500"/>
            <a:ext cx="4622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本次测试覆盖核心业务全流程共56条关键用例，所有功能点均按预期执行，无功能缺失、逻辑错误或流程阻断问题，满足产品设计要求。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3200" y="1905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1879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性能测试：响应高效稳定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444">
            <a:off x="6553209" y="2533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53200" y="2730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AI智能识别响应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2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 2000ms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42709">
            <a:off x="8509000" y="3168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9017000" y="2730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批量切图导出耗时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2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 1000ms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19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419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4445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651000" y="4419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兼容性测试：多端适配良好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444">
            <a:off x="1092209" y="5073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1092200" y="5270500"/>
            <a:ext cx="4622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PC端完美适配Chrome、Firefox、Edge三大主流浏览器，无样式错乱与交互异常；移动端页面在iOS与Android系统上布局自适应，操作流畅无卡顿。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419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23000" y="419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53200" y="44450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112000" y="4419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安全测试：风险全面规避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9444">
            <a:off x="6553209" y="5073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553200" y="5270500"/>
            <a:ext cx="4622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经全面渗透测试，系统无文件上传漏洞、路径遍历等高危风险；用户素材采用本地加密存储机制，严格隔离访问权限，保障数据隐私无泄露隐患。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历史BUG修复回归测试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2B4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49400" y="2311400"/>
            <a:ext cx="2336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BUG-001 函数重复定义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020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针对plist函数在多处重复定义导致的冲突问题，通过重构公共方法模块，统一接口调用路径，彻底消除冗余定义，保障代码逻辑一致性。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2032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069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900" y="2349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94300" y="2311400"/>
            <a:ext cx="2336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BUG-002 语法传参错误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609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60900" y="33020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针对引擎导出装饰器存在的语法解析异常，修正类传参的底层逻辑与数据类型校验规则，优化参数传递流程，解决执行时的语法报错问题。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51800" y="2032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518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349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39200" y="2311400"/>
            <a:ext cx="2336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BUG-003 作用域渲染异常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3058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05800" y="33020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针对轮廓数组因作用域限制导致的画布渲染失败问题，调整变量作用域至全局层级，优化内存管理机制，确保画布元素正常加载与渲染。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562600"/>
            <a:ext cx="558800" cy="558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905000" y="5486400"/>
            <a:ext cx="914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回归测试结论：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原有3个高危代码缺陷已全部修复完成，全量回归复测通过率100%，未发现同类问题复现，系统稳定性与健壮性得到显著提升。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当前遗留低优先级优化项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2B4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29210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3368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00200" y="2311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4K超大图拖拽卡顿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105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655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当前在操作超高清大图时存在轻微延迟，不影响基础浏览。计划在二期版本中通过引入分片渲染技术，彻底解决加载与拖拽的性能瓶颈。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2032000"/>
            <a:ext cx="3378200" cy="29210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069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900" y="23368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45100" y="2311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批量编辑功能待完善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60914" y="3105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60900" y="33655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目前暂不支持批量多选切割及撤销重做操作。该需求将纳入后续版本规划，作为高频效率功能进行重点增强与迭代。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51800" y="2032000"/>
            <a:ext cx="3378200" cy="29210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518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3368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90000" y="2311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全局快捷键体系空白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305814" y="3105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05800" y="33655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尚未配置常用操作的全局快捷键，影响专业用户的操作效率。将在后续版本中补充完整的快捷键支持，并提供自定义配置入口。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651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524000" y="56134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注：以上优化项均为非核心体验问题，仅影响批量处理效率，不影响软件基础功能的完整性与稳定性，将按优先级逐步纳入版本迭代计划。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项目开发难点与解决方案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2B4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034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难点一：透明背景图集轮廓识别不准确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2406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6035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解决方案：增加透明通道掩码预处理，通过灰度模糊降噪减少干扰，并设置最小面积阈值过滤离散杂点，有效剔除无效轮廓，大幅提升复杂背景下的识别准确率。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86500" y="165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86500" y="165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841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48500" y="18034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难点二：前后端画布切割坐标不同步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167">
            <a:off x="6540508" y="2406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40500" y="26035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解决方案：建立实时同步机制，每次拖拽结束自动向后端推送最新坐标；后端增加二次边界校验逻辑，对接收的坐标进行合法性判断，自动修正越界数值，确保数据一致性。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275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127500"/>
            <a:ext cx="762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42799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难点三：多引擎配置文件格式差异巨大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167">
            <a:off x="1016008" y="4883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16000" y="5080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解决方案：采用模块化封装策略，针对不同引擎规范编写独立的导出函数模块，上层统一入口调用，实现“一次操作，多格式适配”，降低维护成本与耦合度。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86500" y="41275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86500" y="4127500"/>
            <a:ext cx="76200" cy="2095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43180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048500" y="42799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难点四：大图片浏览器内存占用过高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167">
            <a:off x="6540508" y="4883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540500" y="5080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解决方案：实施前端分片渲染技术，限制单次画布加载的像素总量，仅渲染视口内可见区域；同时优化图片解码流程，释放未显示区域的内存，显著降低浏览器内存消耗。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项目整体成果与个人工作说明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2B4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0800" cy="304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39800" y="17272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交付全套成果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814">
            <a:off x="762008" y="2279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2667000"/>
            <a:ext cx="4953000" cy="8128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8448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2743200"/>
            <a:ext cx="406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标准化工程文档体系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涵盖可行性分析、SRS、SDD、DDD及最终测试报告，形成完整闭环的项目文档资产。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4953000" cy="8128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9878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886200"/>
            <a:ext cx="406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完整前后端源码与架构资产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交付可运行的全量源码工程，配套全套UML架构、类图、ER图及时序流程图，逻辑清晰规范。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953000"/>
            <a:ext cx="4953000" cy="10668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51308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5029200"/>
            <a:ext cx="4064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答辩材料与测试验证资产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产出本次完整答辩PPT演示文稿，梳理56条标准化测试用例台账，覆盖核心功能与边界场景，确保系统稳定性与完整性。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89889">
            <a:off x="3937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77000" y="1778000"/>
            <a:ext cx="50800" cy="304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654800" y="17272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本人独立完成工作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8814">
            <a:off x="6477008" y="2279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77000" y="2667000"/>
            <a:ext cx="4953000" cy="8128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9400" y="28448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239000" y="2743200"/>
            <a:ext cx="406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全流程设计与文档把控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独立完成项目需求调研、整体架构设计，主导所有技术文档的撰写、修订与审核工作，确保文档质量。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477000" y="3810000"/>
            <a:ext cx="4953000" cy="8128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29400" y="39878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239000" y="3886200"/>
            <a:ext cx="406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全栈开发与问题攻克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独立完成前后端全部代码的编码、调试与BUG修复，解决开发过程中的核心技术难点，保障系统功能实现。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477000" y="4953000"/>
            <a:ext cx="4953000" cy="10668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29400" y="5130800"/>
            <a:ext cx="457200" cy="4572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239000" y="5029200"/>
            <a:ext cx="4064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测试验证与资产整合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执行全维度功能自测，编写测试用例并修正AI生成内容的错误；统一项目参数与数据台账，独立制作答辩PPT，确保项目成果的一致性与准确性。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AI辅助开发使用说明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2B4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49400" y="2032000"/>
            <a:ext cx="23368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文档初稿生成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9210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借助豆包、DeepSeek生成文档原始框架，AI生成内容占比约35%，剩余65%均由本人结合项目实际需求手动核对、修改与完善，确保文档逻辑与细节准确。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1778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06900" y="1778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900" y="2032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94300" y="2032000"/>
            <a:ext cx="23368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代码与测试辅助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609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60900" y="29210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利用CodeBuddy获取基础代码模板与测试思路参考，核心业务逻辑、复杂算法及关键代码模块均由本人独立编写、调试与优化，保障系统核心功能可控。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51800" y="1778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51800" y="1778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032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39200" y="2032000"/>
            <a:ext cx="23368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答辩PPT内容完善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3058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05800" y="29210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通过AI工具辅助生成PPT初稿框架，再由本人深度扩充项目实测数据、业务演示流程及UML系统架构图表，使演示内容贴合真实开发场景，逻辑清晰完整。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080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3975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778000" y="52705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郑重声明：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所有AI生成内容均结合项目真实开发场景进行严格校准与修改，无直接照搬行为。项目的核心系统设计、关键业务代码编写、全流程测试验证等核心工作，均由本人独立完成，确保成果的原创性与专业性。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 项目不足与未来迭代规划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当前存在不足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76200" cy="952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857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768600"/>
            <a:ext cx="412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批量编辑功能缺失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现有功能仅支持单图操作，面对大批量素材处理时，整体操作效率较低，难以满足专业用户的批量生产需求。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810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76200" cy="952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000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3911600"/>
            <a:ext cx="412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超高清大图支持受限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暂不支持8K、16K超高清图集加载，超大尺寸画布在进行拖拽、缩放等操作时存在明显卡顿，影响操作流畅度。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25400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5232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70000" y="5207000"/>
            <a:ext cx="190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无历史操作记录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尚未实现操作的撤销与重做功能，用户误操作后无法回溯，使用容错率较低。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429000" y="5080000"/>
            <a:ext cx="25400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56000" y="5232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3937000" y="5207000"/>
            <a:ext cx="190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无桌面客户端程序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仅支持PC本地离线运行，未提供打包的桌面客户端，用户安装与使用流程不够便捷。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89582">
            <a:off x="4191000" y="4121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77000" y="17780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二期迭代优化计划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2667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77000" y="26670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2819400"/>
            <a:ext cx="381000" cy="381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239000" y="27686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短期规划（1个月）：体验与基础功能修复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重点优化4K大图的分片渲染逻辑，解决加载卡顿问题；新增图片尺寸超限的友好弹窗提示，引导用户规范素材导入，降低操作失误率。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4000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77000" y="40005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7500" y="4152900"/>
            <a:ext cx="381000" cy="381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239000" y="41021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中期规划（2个月）：核心功能完善升级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开发并上线批量切割工具，提升多素材处理效率；补充操作撤销、重做历史记录功能；配置全局快捷键，实现更高效的操作流程。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77000" y="5334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477000" y="53340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67500" y="5486400"/>
            <a:ext cx="381000" cy="381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239000" y="54356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长期规划：生态扩展与智能化赋能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打包桌面免安装客户端，提升部署便捷性；接入轻量深度学习模型优化识别精度；开发Unity/Cocos引擎插件，拓展游戏开发应用场景。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 项目整体总结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2B4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200" y="2032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006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流程完整，规范落地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444">
            <a:off x="1092209" y="2660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92200" y="2794000"/>
            <a:ext cx="46228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严格遵循GB/T 8567软件工程开发规范，完整覆盖需求分析、系统设计、代码实现与测试验收全流程，扎实落实课程核心知识点，形成标准化的开发闭环。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200" y="2032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66000" y="2006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直击痛点，实用性强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444">
            <a:off x="6680209" y="2660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80200" y="2794000"/>
            <a:ext cx="46228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针对2D游戏图集处理人工操作低效易错的行业痛点，实现AI自动识别图集元素、多引擎资源一站式导出，切实提升开发效率，具备实际生产应用价值。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4445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778000" y="4419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性能可靠，运行稳定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444">
            <a:off x="1092209" y="5073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92200" y="5207000"/>
            <a:ext cx="46228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系统经过多轮功能与压力测试，测试通过率达100%，无明显Bug与性能瓶颈，界面交互流畅，完全满足学生及小型独立游戏开发者的日常使用需求。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350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80200" y="44450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366000" y="4419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展望未来，持续迭代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444">
            <a:off x="6680209" y="5073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680200" y="5207000"/>
            <a:ext cx="46228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项目当前仍存在批量处理速度、超大分辨率图片渲染等优化空间，后续可围绕功能扩展、性能提升与用户体验优化，制定长期的迭代升级规划。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762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715000" y="1905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2667000"/>
            <a:ext cx="3556000" cy="30480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2667000"/>
            <a:ext cx="3556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984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9464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致谢恩师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762013" y="367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62000" y="3937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感谢钟云飞教授在课程设计全过程的悉心指导，从需求分析、系统架构搭建到软件规范制定，每一步都给予了极具价值的专业建议，为项目的顺利推进指明了方向。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18000" y="2667000"/>
            <a:ext cx="3556000" cy="30480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18000" y="2667000"/>
            <a:ext cx="3556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984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43500" y="29464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致谢同窗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572013" y="367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72000" y="3937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感谢同班同学在项目测试阶段提供的丰富素材与试用支持，大家从用户视角提出的优化建议，让软件的功能体验更加完善，也让我感受到团队协作的力量。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2667000"/>
            <a:ext cx="3556000" cy="30480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128000" y="2667000"/>
            <a:ext cx="3556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984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953500" y="29464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收获与展望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382013" y="367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82000" y="3937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本次项目完整实践了软件工程标准化开发流程，积累了前后端开发与数字图像处理的实操经验。后续我将持续迭代，优化工具功能，探索更多技术应用场景。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08000" y="5969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以技术为舟，以探索为帆，在不断的实践中沉淀与成长 ”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16000" y="-1016000"/>
            <a:ext cx="3048000" cy="3048000"/>
          </a:xfrm>
          <a:prstGeom prst="ellipse">
            <a:avLst/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906000" y="4826000"/>
            <a:ext cx="3810000" cy="3810000"/>
          </a:xfrm>
          <a:prstGeom prst="ellipse">
            <a:avLst/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敬请各位老师批评指正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482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8" name="文本框 7"/>
          <p:cNvSpPr txBox="1"/>
          <p:nvPr/>
        </p:nvSpPr>
        <p:spPr>
          <a:xfrm>
            <a:off x="4243070" y="5656580"/>
            <a:ext cx="37064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PPT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为豆包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AI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和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deepseek,codebudy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辅助生成，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codebudy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提供文本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10266</Words>
  <Application>WPS 演示</Application>
  <PresentationFormat/>
  <Paragraphs>617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WPS_1732193354</cp:lastModifiedBy>
  <cp:revision>2</cp:revision>
  <dcterms:created xsi:type="dcterms:W3CDTF">2026-06-28T09:49:58Z</dcterms:created>
  <dcterms:modified xsi:type="dcterms:W3CDTF">2026-06-28T10:38:57Z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{"Label":"1","ContentProducer":"001191110102MACQD9K64010000","ProduceID":"7656380991720213747","ReservedCode1":"","ContentPropagator":"","PropagateID":"","ReservedCode2":""}</vt:lpwstr>
  </property>
  <property fmtid="{D5CDD505-2E9C-101B-9397-08002B2CF9AE}" pid="3" name="ICV">
    <vt:lpwstr>DA486D2057D04E81BE03CBCA80C9C2BA_12</vt:lpwstr>
  </property>
  <property fmtid="{D5CDD505-2E9C-101B-9397-08002B2CF9AE}" pid="4" name="KSOProductBuildVer">
    <vt:lpwstr>2052-12.1.0.26895</vt:lpwstr>
  </property>
</Properties>
</file>